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GACHICAREERAI/b3a26714-2895-56f0-b4c8-705422406677/scratchpad/deck/posupos-lockup-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172200"/>
            <a:ext cx="1527048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pic>
        <p:nvPicPr>
          <p:cNvPr id="3" name="Image 0" descr="/tmp/claude-0/-home-user-GACHICAREERAI/b3a26714-2895-56f0-b4c8-705422406677/scratchpad/deck/posupos-lock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0" y="6263640"/>
            <a:ext cx="1353312" cy="3657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GACHICAREERAI/b3a26714-2895-56f0-b4c8-705422406677/scratchpad/deck/posupos-logo-full-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371600"/>
            <a:ext cx="3566160" cy="325526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1097280"/>
            <a:ext cx="1371600" cy="384048"/>
          </a:xfrm>
          <a:prstGeom prst="roundRect">
            <a:avLst>
              <a:gd name="adj" fmla="val 50000"/>
            </a:avLst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731520" y="109728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2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世界初※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2240280" y="109728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面接を自動化した、POSシステム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828800"/>
            <a:ext cx="7132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面接ができる、</a:t>
            </a:r>
            <a:endParaRPr lang="en-US" sz="4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最強のPOSレジ。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8862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注文・会計から、打刻・シフト・給料、</a:t>
            </a:r>
            <a:endParaRPr lang="en-US" sz="1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アルバイトやキャストの一次面接まで。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49834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サービス資料　2026年10月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6217920"/>
            <a:ext cx="9235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FB0D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世界初：2026年10月 当社調べ。POSレジに、AIによる応募者の一次面接の機能を標準でつけたサービスとして。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お店の、こんなお悩みありませんか？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応募が来すぎて、面接が追いつかない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応募はあるのに、面接の時間がとれず返事が遅れる。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2816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248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日程調整とドタキャン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60248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電話で日を決めても、当日に来ないことがある。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0768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8200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体入してみたら合わない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38200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夜のお店では、合わない人の体入費がかさむ。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給料の計算に何時間も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タイムカードやバックを、Excelで一人ずつ計算している。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2816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0248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注文の伝えもれ・延長の見落とし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60248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混む時間ほど、厨房への伝えもれや延長の声かけもれが起きる。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0768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8200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レジ・勤怠・給料がバラバラ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38200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アプリがいくつもあって、同じことを何度も入れている。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ポスポスとは：レジと店舗管理に、AI面接がついたPOSレジ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052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レジ・注文・会計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31720"/>
            <a:ext cx="3002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配置図で卓を開いて注文から会計まで。QR注文・厨房の画面・券売機・Square。夜はセット・延長・指名・付け回し・売掛も。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8160" y="1508760"/>
            <a:ext cx="35052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0248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0248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19684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02480" y="2331720"/>
            <a:ext cx="3002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ICカードで打刻。シフトの希望集めから、深夜時給・交通費・前借り、夜はバック・歩合・源泉徴収まで自動で計算。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07680" y="1508760"/>
            <a:ext cx="350520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01600" dist="38100" dir="5400000">
              <a:srgbClr val="13234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82000" y="176479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8200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976360" y="1764792"/>
            <a:ext cx="240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AI面接（世界初※）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382000" y="2331720"/>
            <a:ext cx="3002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URLを送るだけ。応募者は条件をボタンで選んで、AIの面接官と1分ほど話します。録画と答えがお店に届きます。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72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パソコン・タブレット・スマホのブラウザで動くので、インストールはいりません。飲食店28種類・夜のお店7種類で使えます。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世界初：2026年10月 当社調べ。POSレジに、AIによる応募者の一次面接の機能を標準でつけたサービスとして。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AI面接：ボタンで選んで、1分話す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0936" y="1453896"/>
            <a:ext cx="2624328" cy="3950208"/>
          </a:xfrm>
          <a:prstGeom prst="roundRect">
            <a:avLst>
              <a:gd name="adj" fmla="val 3484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pos-ai-cho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2514600" cy="3840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374136" y="1453896"/>
            <a:ext cx="2505456" cy="3950208"/>
          </a:xfrm>
          <a:prstGeom prst="roundRect">
            <a:avLst>
              <a:gd name="adj" fmla="val 3650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pos-ai-talk-d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508760"/>
            <a:ext cx="2395728" cy="38404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463040"/>
            <a:ext cx="544068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46520" y="17190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LINEで送るだけ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44652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職種を選んでURLを作り、LINEで送るだけ。応募者は登録なしでスマホから受けられます。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6172200" y="2971800"/>
            <a:ext cx="544068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46520" y="322783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条件はボタンで選ぶ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3794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出勤日数・曜日・時間帯・勤務開始・通勤・経験。夜のお店はお酒・年齢の確認も（1分ほど）。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172200" y="4480560"/>
            <a:ext cx="544068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46520" y="473659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AIと1分ほど話す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6446520" y="5303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自己紹介・やってみたい理由・お店からの質問（3つまで）。話している姿を録画します。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画面は見本です（お店・応募者は架空）。届くもの：録画・顔の写真3枚・選んだ答えの一覧・話し方の雰囲気のまとめ・会話の文字。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AI面接で、ここまで減らせます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お店が見るのは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1分の録画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届いた録画と選んだ答えを見て決めるだけ。対面の面接はいりません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98064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26664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26664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URLを送る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80944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1秒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3026664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ボタンを押すとLINEが開き、送る文もアプリが作ります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47488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76088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76088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230368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自動で届く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276088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受け終わると、録画・写真・選んだ答えの一覧・話し方の雰囲気のまとめが届きます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296912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25512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25512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日程調整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479792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いらない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525512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面接の日を決めるやりとりがなくなります。応募者もお店に来なくてOK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546336" y="1508760"/>
            <a:ext cx="2066544" cy="4206240"/>
          </a:xfrm>
          <a:prstGeom prst="roundRect">
            <a:avLst>
              <a:gd name="adj" fmla="val 6637"/>
            </a:avLst>
          </a:prstGeom>
          <a:solidFill>
            <a:srgbClr val="0E1F4D"/>
          </a:solidFill>
          <a:ln w="12700">
            <a:solidFill>
              <a:srgbClr val="0E1F4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74936" y="17830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2A3F80"/>
          </a:solidFill>
          <a:ln w="12700">
            <a:solidFill>
              <a:srgbClr val="2A3F8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74936" y="1783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体入費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729216" y="2377440"/>
            <a:ext cx="170078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E58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節約</a:t>
            </a:r>
            <a:endParaRPr lang="en-US" sz="3200" dirty="0"/>
          </a:p>
        </p:txBody>
      </p:sp>
      <p:sp>
        <p:nvSpPr>
          <p:cNvPr id="27" name="Text 25"/>
          <p:cNvSpPr txBox="1"/>
          <p:nvPr/>
        </p:nvSpPr>
        <p:spPr>
          <a:xfrm>
            <a:off x="9774936" y="3703320"/>
            <a:ext cx="160934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CE4F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体入の前に会う人をしぼれるので、合わない人の体入費が減ります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応募者は、ボタンで選ぶのに1分ほど・AIと話すのが1分ほど。AIは合否を決めません。採用はお店が決めます。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あなたのお店がほしい人か、会う前にわかる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391656" y="1682496"/>
            <a:ext cx="5230368" cy="3172968"/>
          </a:xfrm>
          <a:prstGeom prst="roundRect">
            <a:avLst>
              <a:gd name="adj" fmla="val 2882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pos-ai-result-d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1737360"/>
            <a:ext cx="5120640" cy="3063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46304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71907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条件が一覧でわかる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出勤日数・曜日・時間帯・勤務開始・通勤・経験を、全員が同じボタンで答えます。選んだ答えが一覧で届きます。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297180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322783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お店の質問も聞ける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7947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お店から聞きたいことを3つまで。AIの面接官が会話の中で聞きます。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48640" y="4480560"/>
            <a:ext cx="54864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4736592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話している姿が見える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53035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自己紹介とやってみたい理由を話す姿の録画と顔の写真。雰囲気・話し方・表情がわかります。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6446520" y="49377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画面は見本です（お店・応募者は架空）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AIは合否を決めません。見た目についてもAIは何も言いません。録画と写真を見て、お店が決めます。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使い方は、5つのステップ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066544" cy="1828800"/>
          </a:xfrm>
          <a:prstGeom prst="roundRect">
            <a:avLst>
              <a:gd name="adj" fmla="val 75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45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459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URLを作る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職種を選ぶだけ。URLは1回だけ・14日まで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98064" y="1463040"/>
            <a:ext cx="2066544" cy="1828800"/>
          </a:xfrm>
          <a:prstGeom prst="roundRect">
            <a:avLst>
              <a:gd name="adj" fmla="val 75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26664" y="1645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026664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575304" y="16459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LINEで送る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026664" y="22402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送る文はアプリが作る。ボタン1つ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47488" y="1463040"/>
            <a:ext cx="2066544" cy="1828800"/>
          </a:xfrm>
          <a:prstGeom prst="roundRect">
            <a:avLst>
              <a:gd name="adj" fmla="val 75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276088" y="1645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276088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824728" y="16459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答える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5276088" y="22402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ボタンで選んで、AIと1分ほど話す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296912" y="1463040"/>
            <a:ext cx="2066544" cy="1828800"/>
          </a:xfrm>
          <a:prstGeom prst="roundRect">
            <a:avLst>
              <a:gd name="adj" fmla="val 75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25512" y="1645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25512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074152" y="16459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結果が届く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525512" y="22402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録画・写真・選んだ答えが自動で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546336" y="1463040"/>
            <a:ext cx="2066544" cy="1828800"/>
          </a:xfrm>
          <a:prstGeom prst="roundRect">
            <a:avLst>
              <a:gd name="adj" fmla="val 75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774936" y="1645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74936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0323576" y="164592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お店が分ける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774936" y="22402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合格・二次面接へ・検討・不合格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39496" y="3602736"/>
            <a:ext cx="4773168" cy="2304288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29" name="Image 0" descr="/tmp/claude-0/-home-user-GACHICAREERAI/b3a26714-2895-56f0-b4c8-705422406677/scratchpad/deck/pos-ai-ur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3657600"/>
            <a:ext cx="4663440" cy="2194560"/>
          </a:xfrm>
          <a:prstGeom prst="rect">
            <a:avLst/>
          </a:prstGeom>
        </p:spPr>
      </p:pic>
      <p:sp>
        <p:nvSpPr>
          <p:cNvPr id="30" name="Shape 27"/>
          <p:cNvSpPr/>
          <p:nvPr/>
        </p:nvSpPr>
        <p:spPr>
          <a:xfrm>
            <a:off x="5705856" y="3922776"/>
            <a:ext cx="5916168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31" name="Image 1" descr="/tmp/claude-0/-home-user-GACHICAREERAI/b3a26714-2895-56f0-b4c8-705422406677/scratchpad/deck/pos-ai-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3977640"/>
            <a:ext cx="5806440" cy="118872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分けた結果は応募者には知らせません。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安心して使えるように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録画は同意してから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応募者は、録画されることに同意してから面接を受けます。同意しないと受けられません。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32816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60248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90日で自動で消える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60248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録画・写真・会話は90日で自動で消えます。お店の画面からいつでも消せます。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107680" y="150876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82000" y="176479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ほかのお店からは見えない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382000" y="233172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結果はそのお店の画面だけで見られます。評価は応募者に見せません。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AIは合否を決めない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AIのまとめは参考です。採用するかどうかは、お店の人が会って決めます。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32816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0248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変更の記録・権限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60248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だれが・いつ・何を変えたか（改ざんチェックつき）。アカウントごとの権限。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07680" y="3749040"/>
            <a:ext cx="3505200" cy="1965960"/>
          </a:xfrm>
          <a:prstGeom prst="roundRect">
            <a:avLst>
              <a:gd name="adj" fmla="val 697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382000" y="4005072"/>
            <a:ext cx="3002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年齢・本人確認はお店で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382000" y="4572000"/>
            <a:ext cx="3002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夜のお店の年齢・本人確認は、AI面接ではなく必ずお店で身分証を見て行ってください。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昼のお店・夜のお店の主な機能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94960" cy="4480560"/>
          </a:xfrm>
          <a:prstGeom prst="roundRect">
            <a:avLst>
              <a:gd name="adj" fmla="val 3061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0" y="1463040"/>
            <a:ext cx="5394960" cy="4480560"/>
          </a:xfrm>
          <a:prstGeom prst="roundRect">
            <a:avLst>
              <a:gd name="adj" fmla="val 3061"/>
            </a:avLst>
          </a:prstGeom>
          <a:solidFill>
            <a:srgbClr val="EEF0FA"/>
          </a:solidFill>
          <a:ln w="12700">
            <a:solidFill>
              <a:srgbClr val="EEF0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昼のお店（飲食店）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492240" y="1691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A2FA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配置図で卓の受付・注文・会計、分け払い・割り勘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QR注文（写真つきメニュー・飲み放題の残り時間）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厨房の画面（料理／ドリンクの持ち場）・券売機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お持ち帰りの軽減税率・深夜料金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ポイント・会員証（名前を聞かずに）・クーポン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打刻・シフト・給料（深夜時給・交通費・前借り）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28600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セット料金・延長（もうすぐ終わる卓を赤で）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本指名・場内指名・同伴、付け回し・タイムテーブル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バック・売上や指名で変わる時給・歩合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売掛（ツケ）・ボトルキープ・顧客カルテ・来客予定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源泉徴収（ホステス等の報酬）・送りの手当</a:t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キャストモード（給料・成績・確定申告の案内）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注文から会計まで（昼のお店）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5687568" cy="4146572"/>
          </a:xfrm>
          <a:prstGeom prst="roundRect">
            <a:avLst>
              <a:gd name="adj" fmla="val 220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flo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5577840" cy="403684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537960" y="1463040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766560" y="169164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7665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406640" y="1554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卓を開く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406640" y="1920240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配置図で卓を選んで人数を入れる。1階／2階のタブも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537960" y="2542032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766560" y="2770632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766560" y="2770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406640" y="263347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7406640" y="2999232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オプション・飲み放題／食べ放題・折半。注文は厨房の画面へ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537960" y="3621024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766560" y="3849624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766560" y="38496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06640" y="371246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お会計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0" y="4078224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分け払い・分けて会計・ポイント／クーポン・Square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37960" y="4700016"/>
            <a:ext cx="507492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766560" y="4928616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66560" y="4928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7406640" y="479145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レシート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7406640" y="5157216"/>
            <a:ext cx="4069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明細・レシート・領収書を印刷。会員番号のQRつき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お会計でできること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4590288" cy="4259008"/>
          </a:xfrm>
          <a:prstGeom prst="roundRect">
            <a:avLst>
              <a:gd name="adj" fmla="val 2147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checko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4480560" cy="4149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0" y="146304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60720" y="17190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分けて払う・分けて会計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76072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現金＋カードなど払い方を分けたり、1つの卓を分けて会計したり。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641080" y="146304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915400" y="171907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消費税・軽減税率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8915400" y="22860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店内／お持ち帰りを選んで、お持ち帰りは軽減税率で計算。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0" y="297180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760720" y="3227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深夜料金・サービス料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760720" y="3794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22時からの注文に10%など。夜はサービス料も会計でそのまま。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641080" y="297180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915400" y="322783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ポイント・クーポン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794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会員証のQRでポイント。円引き・％引き・期間・回数のクーポン。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0" y="448056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760720" y="473659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Square・売掛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760720" y="5303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カード・交通系IC・QR決済はSquareで。夜は売掛（ツケ）も。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8641080" y="4480560"/>
            <a:ext cx="2971800" cy="1325880"/>
          </a:xfrm>
          <a:prstGeom prst="roundRect">
            <a:avLst>
              <a:gd name="adj" fmla="val 1034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915400" y="473659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伝票の直しは理由つき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8915400" y="5303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直す・消すときは理由が必須。あとから見られます。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厨房の画面・QR注文・券売機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6510528" cy="3006361"/>
          </a:xfrm>
          <a:prstGeom prst="roundRect">
            <a:avLst>
              <a:gd name="adj" fmla="val 3042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kitch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6400800" cy="289663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60920" y="1463040"/>
            <a:ext cx="4251960" cy="1371600"/>
          </a:xfrm>
          <a:prstGeom prst="roundRect">
            <a:avLst>
              <a:gd name="adj" fmla="val 10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7190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厨房の画面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2860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注文が卓ごとにまとまり、作り始める→できた。料理／ドリンクの持ち場を分けられ、大きな音・自動印刷も。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7360920" y="3017520"/>
            <a:ext cx="4251960" cy="1371600"/>
          </a:xfrm>
          <a:prstGeom prst="roundRect">
            <a:avLst>
              <a:gd name="adj" fmla="val 10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35240" y="327355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QR注文</a:t>
            </a:r>
            <a:endParaRPr lang="en-US" sz="15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8404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お客さまのスマホや卓のタブレットから、写真つきメニューで注文。飲み放題の残り時間・店員の呼び出しも。ログインなし。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7360920" y="4572000"/>
            <a:ext cx="4251960" cy="1371600"/>
          </a:xfrm>
          <a:prstGeom prst="roundRect">
            <a:avLst>
              <a:gd name="adj" fmla="val 10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635240" y="4828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券売機</a:t>
            </a:r>
            <a:endParaRPr lang="en-US" sz="155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3949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お店の端末を券売機に。お金を入れてメニューを選び、食券を印刷できます。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470916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注文の伝えもれ・聞きまちがいを減らし、ホールは配膳と接客に集中できます。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夜のお店：伝票・延長・指名・付け回し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3858768" cy="2962811"/>
          </a:xfrm>
          <a:prstGeom prst="roundRect">
            <a:avLst>
              <a:gd name="adj" fmla="val 3086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sli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3749040" cy="285308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17136" y="1453896"/>
            <a:ext cx="3355848" cy="3152278"/>
          </a:xfrm>
          <a:prstGeom prst="roundRect">
            <a:avLst>
              <a:gd name="adj" fmla="val 2901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m-tsukemawash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508760"/>
            <a:ext cx="3246120" cy="304255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138160" y="1463040"/>
            <a:ext cx="34747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ホール・延長：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卓ごとに人数・残り時間・合計。もうすぐ終わる卓は赤、自動延長も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指名・同伴：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本指名・場内指名・同伴を記録。リクエストの売上は指名した子へ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付け回し：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卓→キャスト→付け方→何分を選ぶだけ。キャストのスマホに「今の席・あと何分」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伝票の内わけ：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お店・キャスト・利益の内わけ。直したときは理由つきで記録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売掛・ボトル：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ツケの一覧と回収、ボトルキープの残り・期限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画面は見本です（店名・名前・数字は架空）。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打刻・シフト・給料を自動で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39496" y="1453896"/>
            <a:ext cx="6876288" cy="2261053"/>
          </a:xfrm>
          <a:prstGeom prst="roundRect">
            <a:avLst>
              <a:gd name="adj" fmla="val 4044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sal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508760"/>
            <a:ext cx="6766560" cy="21513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9496" y="3877056"/>
            <a:ext cx="2726478" cy="2029968"/>
          </a:xfrm>
          <a:prstGeom prst="roundRect">
            <a:avLst>
              <a:gd name="adj" fmla="val 4505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m-ba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931920"/>
            <a:ext cx="2616750" cy="1920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80960" y="1463040"/>
            <a:ext cx="393192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ICカード（Suicaなど）でタッチ。打刻の直し・修正申請の承認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シフト：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スタッフがスマホで希望を出す。締め切り・決めたシフト・臨時休業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給料：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日払い・週払い・月払い。時給・手当・控除、深夜時給・交通費・前借りの差し引き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商品ごとのバック、売上や指名で変わる時給・歩合、送りの手当、源泉徴収</a:t>
            </a:r>
            <a:endParaRPr lang="en-US" sz="1300" dirty="0"/>
          </a:p>
          <a:p>
            <a:pPr marL="342900" indent="-342900">
              <a:lnSpc>
                <a:spcPct val="11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決めたあとも安心：</a:t>
            </a:r>
            <a:pPr indent="0" marL="0">
              <a:lnSpc>
                <a:spcPct val="110000"/>
              </a:lnSpc>
              <a:spcAft>
                <a:spcPts val="700"/>
              </a:spcAft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決めたあとに打刻や伝票を直すと「決めた後に変更あり」とお知らせ。Excel出力も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画面は見本です（名前・数字は架空）。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お金・日報・在庫・顧客もひとつに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472184" y="1408176"/>
            <a:ext cx="9253728" cy="2942380"/>
          </a:xfrm>
          <a:prstGeom prst="roundRect">
            <a:avLst>
              <a:gd name="adj" fmla="val 310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mon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7048" y="1463040"/>
            <a:ext cx="9144000" cy="28326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お金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利益（売上−手数料−人件費−仕入れ−経費）・原価率・レジの現金・明細。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36042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3474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日報・月報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63474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売上・客数・客単価・支払い方法ごと・人件費・よく出た商品。印刷も。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17220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4652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出数・在庫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44652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よく出たメニュー、在庫・入荷・原価。氷・おしぼりなども。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983980" y="4572000"/>
            <a:ext cx="2628900" cy="1463040"/>
          </a:xfrm>
          <a:prstGeom prst="roundRect">
            <a:avLst>
              <a:gd name="adj" fmla="val 9375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58300" y="4828032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顧客・会計ソフトへ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9258300" y="5394960"/>
            <a:ext cx="21259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顧客カルテ・来店の記録。freee・マネーフォワード・弥生用のCSV。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画面は見本です（店名・数字は架空）。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スタッフ・キャストは自分のスマホで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68096" y="1408176"/>
            <a:ext cx="2304288" cy="4375953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4" name="Image 0" descr="/tmp/claude-0/-home-user-GACHICAREERAI/b3a26714-2895-56f0-b4c8-705422406677/scratchpad/deck/m-staff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63040"/>
            <a:ext cx="2194560" cy="4266225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328416" y="1408176"/>
            <a:ext cx="2304288" cy="4375953"/>
          </a:xfrm>
          <a:prstGeom prst="roundRect">
            <a:avLst>
              <a:gd name="adj" fmla="val 3968"/>
            </a:avLst>
          </a:prstGeom>
          <a:solidFill>
            <a:srgbClr val="FFFFFF"/>
          </a:solidFill>
          <a:ln w="12700">
            <a:solidFill>
              <a:srgbClr val="DCE4F2"/>
            </a:solidFill>
            <a:prstDash val="solid"/>
          </a:ln>
          <a:effectLst>
            <a:outerShdw sx="100000" sy="100000" kx="0" ky="0" algn="bl" rotWithShape="0" blurRad="127000" dist="50800" dir="5400000">
              <a:srgbClr val="13234A">
                <a:alpha val="15000"/>
              </a:srgbClr>
            </a:outerShdw>
          </a:effectLst>
        </p:spPr>
      </p:sp>
      <p:pic>
        <p:nvPicPr>
          <p:cNvPr id="6" name="Image 1" descr="/tmp/claude-0/-home-user-GACHICAREERAI/b3a26714-2895-56f0-b4c8-705422406677/scratchpad/deck/m-cast-ho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463040"/>
            <a:ext cx="2194560" cy="4266225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217920" y="146304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92240" y="171907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シフト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6492240" y="228600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希望を出す・決まったシフトを見る。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9029700" y="146304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304020" y="171907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給料・明細</a:t>
            </a:r>
            <a:endParaRPr lang="en-US" sz="1550" dirty="0"/>
          </a:p>
        </p:txBody>
      </p:sp>
      <p:sp>
        <p:nvSpPr>
          <p:cNvPr id="12" name="Text 8"/>
          <p:cNvSpPr txBox="1"/>
          <p:nvPr/>
        </p:nvSpPr>
        <p:spPr>
          <a:xfrm>
            <a:off x="9304020" y="228600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いくらもらえるか、日別の明細。前借りも。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17920" y="356616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92240" y="382219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チャット・通知</a:t>
            </a:r>
            <a:endParaRPr lang="en-US" sz="1550" dirty="0"/>
          </a:p>
        </p:txBody>
      </p:sp>
      <p:sp>
        <p:nvSpPr>
          <p:cNvPr id="15" name="Text 11"/>
          <p:cNvSpPr txBox="1"/>
          <p:nvPr/>
        </p:nvSpPr>
        <p:spPr>
          <a:xfrm>
            <a:off x="6492240" y="438912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1対1・グループ・お知らせ。写真・既読。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9029700" y="3566160"/>
            <a:ext cx="2583180" cy="1874520"/>
          </a:xfrm>
          <a:prstGeom prst="roundRect">
            <a:avLst>
              <a:gd name="adj" fmla="val 7317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304020" y="3822192"/>
            <a:ext cx="2080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夜は成績・お客さま</a:t>
            </a:r>
            <a:endParaRPr lang="en-US" sz="1550" dirty="0"/>
          </a:p>
        </p:txBody>
      </p:sp>
      <p:sp>
        <p:nvSpPr>
          <p:cNvPr id="18" name="Text 14"/>
          <p:cNvSpPr txBox="1"/>
          <p:nvPr/>
        </p:nvSpPr>
        <p:spPr>
          <a:xfrm>
            <a:off x="9304020" y="4389120"/>
            <a:ext cx="20802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成績・ランキング、自分のお客さま、来客予定、確定申告の案内。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6217920" y="548640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「給料いくら？」「シフトどうなった？」の問い合わせが減ります。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画面は見本です（名前・数字は架空）。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対応しているお店（飲食店28種類・夜のお店7種類）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19072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和食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和食レストラン・寿司・そば・うどん・定食・食堂・丼もの・牛丼・とんかつ・揚げ物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364992" y="1463040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39312" y="1719072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居酒屋・焼き鳥・お酒</a:t>
            </a:r>
            <a:endParaRPr lang="en-US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3639312" y="2286000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居酒屋・焼き鳥・バー・バル（キャストなし）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1344" y="1463040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55664" y="1719072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肉・鉄板・鍋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455664" y="2286000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焼肉・ステーキ・鉄板焼き・お好み焼き・もんじゃ・しゃぶしゃぶ・鍋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97696" y="1463040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72016" y="1719072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麺・中華・アジア</a:t>
            </a:r>
            <a:endParaRPr lang="en-US" sz="1550" dirty="0"/>
          </a:p>
        </p:txBody>
      </p:sp>
      <p:sp>
        <p:nvSpPr>
          <p:cNvPr id="14" name="Text 12"/>
          <p:cNvSpPr txBox="1"/>
          <p:nvPr/>
        </p:nvSpPr>
        <p:spPr>
          <a:xfrm>
            <a:off x="9272016" y="2286000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ラーメン・つけ麺・中華料理・韓国料理・カレー・インド料理・エスニック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767328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4023360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洋食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590288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洋食レストラン・イタリアン・フレンチ・ビストロ・ハンバーガー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364992" y="3767328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39312" y="4023360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カフェ・パン・スイーツ</a:t>
            </a:r>
            <a:endParaRPr lang="en-US" sz="1550" dirty="0"/>
          </a:p>
        </p:txBody>
      </p:sp>
      <p:sp>
        <p:nvSpPr>
          <p:cNvPr id="20" name="Text 18"/>
          <p:cNvSpPr txBox="1"/>
          <p:nvPr/>
        </p:nvSpPr>
        <p:spPr>
          <a:xfrm>
            <a:off x="3639312" y="4590288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カフェ・パン屋・ベーカリー・ケーキ・スイーツ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181344" y="3767328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4023360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テイクアウト・食べ放題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6455664" y="4590288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お弁当・テイクアウト・キッチンカー・ビュッフェ・食べ放題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997696" y="3767328"/>
            <a:ext cx="2615184" cy="2103120"/>
          </a:xfrm>
          <a:prstGeom prst="roundRect">
            <a:avLst>
              <a:gd name="adj" fmla="val 6522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272016" y="4023360"/>
            <a:ext cx="21122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夜のお店</a:t>
            </a:r>
            <a:endParaRPr lang="en-US" sz="1550" dirty="0"/>
          </a:p>
        </p:txBody>
      </p:sp>
      <p:sp>
        <p:nvSpPr>
          <p:cNvPr id="26" name="Text 24"/>
          <p:cNvSpPr txBox="1"/>
          <p:nvPr/>
        </p:nvSpPr>
        <p:spPr>
          <a:xfrm>
            <a:off x="9272016" y="4590288"/>
            <a:ext cx="211226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ホストクラブ・キャバクラ・ガールズバー・ボーイズバー・コンセプトカフェ・スナック・ラウンジ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このほかの飲食店も、お気軽にご相談ください。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料金プラン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ライトプラン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お会計と売上を、まず楽に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 </a:t>
            </a:r>
            <a:pPr indent="0" marL="0">
              <a:buNone/>
            </a:pPr>
            <a:r>
              <a:rPr lang="en-US" sz="24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11,000円</a:t>
            </a:r>
            <a:pPr indent="0" marL="0">
              <a:buNone/>
            </a:pPr>
            <a:r>
              <a:rPr lang="en-US" sz="11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（税込）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注文・会計・伝票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QR注文・厨房の画面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ポイント・会員証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Square・レシート印刷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5112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FFFFF"/>
          </a:solidFill>
          <a:ln w="31750">
            <a:solidFill>
              <a:srgbClr val="1557D6"/>
            </a:solidFill>
            <a:prstDash val="solid"/>
          </a:ln>
          <a:effectLst>
            <a:outerShdw sx="100000" sy="100000" kx="0" ky="0" algn="bl" rotWithShape="0" blurRad="152400" dist="50800" dir="5400000">
              <a:srgbClr val="1557D6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99432" y="12344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9432" y="12344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キャンペーン価格・おすすめ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スタンダードプラン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お店の運営を、まるごと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99432" y="25146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月額（税込）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99432" y="27432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昼 22,000円</a:t>
            </a:r>
            <a:endParaRPr lang="en-US" sz="1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夜 33,000円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4599432" y="342900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通常 昼33,000円／夜40,000円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99432" y="379476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ライトの機能すべて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打刻・シフト・給料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顧客・クーポン・お金・日報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AI面接（追加料金なし）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101584" y="1417320"/>
            <a:ext cx="3520440" cy="4343400"/>
          </a:xfrm>
          <a:prstGeom prst="roundRect">
            <a:avLst>
              <a:gd name="adj" fmla="val 3896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75904" y="1737360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個別プラン</a:t>
            </a:r>
            <a:endParaRPr 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375904" y="2194560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お店のやり方に合わせて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75904" y="2560320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 </a:t>
            </a:r>
            <a:pPr indent="0" marL="0">
              <a:buNone/>
            </a:pPr>
            <a:r>
              <a:rPr lang="en-US" sz="24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55,000円〜</a:t>
            </a:r>
            <a:pPr indent="0" marL="0">
              <a:buNone/>
            </a:pPr>
            <a:r>
              <a:rPr lang="en-US" sz="11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（税込）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75904" y="3794760"/>
            <a:ext cx="2971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ライト＋スタンダードの機能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お店独自の給料の計算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データの取り込み・帳票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AI面接（追加料金なし）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6272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料金は1店舗ごと・初期費用0円・1か月無料。キャンペーン期間中のお申し込みは、契約が続くかぎりキャンペーン価格のまま（予告なく終了する場合があります）。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グループ店・年間契約・導入の流れ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1691640" cy="1645920"/>
          </a:xfrm>
          <a:prstGeom prst="roundRect">
            <a:avLst>
              <a:gd name="adj" fmla="val 8333"/>
            </a:avLst>
          </a:prstGeom>
          <a:solidFill>
            <a:srgbClr val="FFF4DB"/>
          </a:solidFill>
          <a:ln w="12700">
            <a:solidFill>
              <a:srgbClr val="FFF4D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45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55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1年契約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11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B26B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1か月分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606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55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おトク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23160" y="1508760"/>
            <a:ext cx="1691640" cy="1645920"/>
          </a:xfrm>
          <a:prstGeom prst="roundRect">
            <a:avLst>
              <a:gd name="adj" fmla="val 8333"/>
            </a:avLst>
          </a:prstGeom>
          <a:solidFill>
            <a:srgbClr val="FFF4DB"/>
          </a:solidFill>
          <a:ln w="12700">
            <a:solidFill>
              <a:srgbClr val="FFF4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645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55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2年契約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011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B26B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3か月分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2606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55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おトク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97680" y="1508760"/>
            <a:ext cx="1691640" cy="1645920"/>
          </a:xfrm>
          <a:prstGeom prst="roundRect">
            <a:avLst>
              <a:gd name="adj" fmla="val 8333"/>
            </a:avLst>
          </a:prstGeom>
          <a:solidFill>
            <a:srgbClr val="FFF4DB"/>
          </a:solidFill>
          <a:ln w="12700">
            <a:solidFill>
              <a:srgbClr val="FFF4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480560" y="1645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6A55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3年契約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434840" y="2011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B26B0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5か月分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4480560" y="26060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A553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おトク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38328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年間契約（前払い）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自動では更新しません（終わる1か月前にお知らせ）。途中でやめても、残りの期間のお金はお返しできません。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グループ店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5店舗まで。料金は1店舗ごと（足した日からの日割り）。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0" y="1463040"/>
            <a:ext cx="521208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629400" y="169164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294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269480" y="157276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お問い合わせ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7269480" y="193852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電話・フォーム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0" y="2560320"/>
            <a:ext cx="521208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29400" y="278892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294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269480" y="26700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1か月無料でお試し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269480" y="303580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カード登録なしなら勝手に請求されません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0" y="3657600"/>
            <a:ext cx="521208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629400" y="388620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629400" y="3886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269480" y="3767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登録・設定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269480" y="41330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ホームページからのお申し込みは登録代行が無料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0" y="4754880"/>
            <a:ext cx="5212080" cy="914400"/>
          </a:xfrm>
          <a:prstGeom prst="roundRect">
            <a:avLst>
              <a:gd name="adj" fmla="val 15000"/>
            </a:avLst>
          </a:prstGeom>
          <a:solidFill>
            <a:srgbClr val="F2F6FD"/>
          </a:solidFill>
          <a:ln w="12700">
            <a:solidFill>
              <a:srgbClr val="F2F6F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629400" y="4983480"/>
            <a:ext cx="457200" cy="457200"/>
          </a:xfrm>
          <a:prstGeom prst="ellipse">
            <a:avLst/>
          </a:prstGeom>
          <a:solidFill>
            <a:srgbClr val="1557D6"/>
          </a:solidFill>
          <a:ln w="12700">
            <a:solidFill>
              <a:srgbClr val="1557D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62940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269480" y="48646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本番スタート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7269480" y="52303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AI面接のURLもすぐ送れます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0936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878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まずは無料で、1か月。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7315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58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お問い合わせ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お電話かフォームから。お店の種類と店舗数を教えてください。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891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2578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無料でお試し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1か月無料。カードを登録しなければ請求されません。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103120"/>
            <a:ext cx="3383280" cy="2103120"/>
          </a:xfrm>
          <a:prstGeom prst="roundRect">
            <a:avLst>
              <a:gd name="adj" fmla="val 6522"/>
            </a:avLst>
          </a:prstGeom>
          <a:solidFill>
            <a:srgbClr val="1E2F66"/>
          </a:solidFill>
          <a:ln w="12700">
            <a:solidFill>
              <a:srgbClr val="2E448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21040" y="2377440"/>
            <a:ext cx="457200" cy="457200"/>
          </a:xfrm>
          <a:prstGeom prst="ellipse">
            <a:avLst/>
          </a:prstGeom>
          <a:solidFill>
            <a:srgbClr val="FFB547"/>
          </a:solidFill>
          <a:ln w="12700">
            <a:solidFill>
              <a:srgbClr val="FFB5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377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2377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AI面接を体験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01752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C9D6F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最初の応募者に、AI面接のURLを送ってみてください。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4526280"/>
            <a:ext cx="10698480" cy="1371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05840" y="46634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557D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お問い合わせ・無料お試しのお申し込み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507492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32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TEL 080-2420-4900（年中無休・24時間受付）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548640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akitogroup.jp/posupos　／　info@akitogroup.jp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493776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合同会社AKITOグループ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4A58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東京都豊島区東池袋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OSPOS">
  <a:themeElements>
    <a:clrScheme name="POSPOS">
      <a:dk1>
        <a:srgbClr val="13234A"/>
      </a:dk1>
      <a:lt1>
        <a:srgbClr val="FFFFFF"/>
      </a:lt1>
      <a:dk2>
        <a:srgbClr val="0E1F4D"/>
      </a:dk2>
      <a:lt2>
        <a:srgbClr val="F2F6FD"/>
      </a:lt2>
      <a:accent1>
        <a:srgbClr val="1557D6"/>
      </a:accent1>
      <a:accent2>
        <a:srgbClr val="FFB547"/>
      </a:accent2>
      <a:accent3>
        <a:srgbClr val="E5484D"/>
      </a:accent3>
      <a:accent4>
        <a:srgbClr val="22A06B"/>
      </a:accent4>
      <a:accent5>
        <a:srgbClr val="288DFD"/>
      </a:accent5>
      <a:accent6>
        <a:srgbClr val="7A3FB0"/>
      </a:accent6>
      <a:hlink>
        <a:srgbClr val="1557D6"/>
      </a:hlink>
      <a:folHlink>
        <a:srgbClr val="7A3FB0"/>
      </a:folHlink>
    </a:clrScheme>
    <a:fontScheme name="POSPOS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合同会社AKITOグループ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ポスポス サービス資料</dc:title>
  <dc:subject>PptxGenJS Presentation</dc:subject>
  <dc:creator>合同会社AKITOグループ</dc:creator>
  <cp:lastModifiedBy>合同会社AKITOグループ</cp:lastModifiedBy>
  <cp:revision>1</cp:revision>
  <dcterms:created xsi:type="dcterms:W3CDTF">2026-10-25T10:05:30Z</dcterms:created>
  <dcterms:modified xsi:type="dcterms:W3CDTF">2026-10-25T10:05:30Z</dcterms:modified>
</cp:coreProperties>
</file>