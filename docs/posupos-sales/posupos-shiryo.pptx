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ACHICAREERAI/b3a26714-2895-56f0-b4c8-705422406677/scratchpad/deck/posupos-lockup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72200"/>
            <a:ext cx="1527048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GACHICAREERAI/b3a26714-2895-56f0-b4c8-705422406677/scratchpad/deck/posupos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6263640"/>
            <a:ext cx="1353312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ACHICAREERAI/b3a26714-2895-56f0-b4c8-705422406677/scratchpad/deck/posupos-logo-full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3566160" cy="32552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097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世界初※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24028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面接を自動化した、POSシステム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面接ができる、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最強のPOSレジ。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86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注文・会計から、打刻・シフト・給料、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アルバイトやキャストの一次面接まで。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サービス資料　2026年10月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62179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世界初：2026年10月 当社調べ。POSレジに、AIによる応募者の一次面接の機能を標準でつけたサービスとして。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お店の、こんなお悩みありませんか？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応募が来すぎて、面接が追いつかない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応募はあるのに、面接の時間がとれず返事が遅れる。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2816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日程調整とドタキャン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電話で日を決めても、当日に来ないことがある。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768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体入してみたら合わない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夜のお店では、合わない人の体入費がかさむ。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給料の計算に何時間も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タイムカードやバックを、Excelで一人ずつ計算している。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816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248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注文の伝えもれ・延長の見落とし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0248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混む時間ほど、厨房への伝えもれや延長の声かけもれが起きる。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768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200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レジ・勤怠・給料がバラバラ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アプリがいくつもあって、同じことを何度も入れている。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ポスポスとは：レジと店舗管理に、AI面接がついたPOSレジ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レジ・注文・会計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02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配置図で卓を開いて注文から会計まで。QR注文・厨房の画面・券売機・Square。夜はセット・延長・指名・付け回し・売掛も。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0876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248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24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9684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2331720"/>
            <a:ext cx="3002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ICカードで打刻。シフトの希望集めから、深夜時給・交通費・前借り、夜はバック・歩合・源泉徴収まで自動で計算。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7680" y="150876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20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AI面接（世界初※）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2331720"/>
            <a:ext cx="3002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URLを送るだけ。応募者は条件をボタンで選んで、AIの面接官と1分ほど話します。録画と答えがお店に届きます。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パソコン・タブレット・スマホのブラウザで動くので、インストールはいりません。飲食店28種類・夜のお店7種類で使えます。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世界初：2026年10月 当社調べ。POSレジに、AIによる応募者の一次面接の機能を標準でつけたサービスとして。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AI面接：ボタンで選んで、1分話す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0936" y="1453896"/>
            <a:ext cx="2624328" cy="3950208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pos-ai-cho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5146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74136" y="1453896"/>
            <a:ext cx="2505456" cy="3950208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6" name="Image 1" descr="/tmp/claude-0/-home-user-GACHICAREERAI/b3a26714-2895-56f0-b4c8-705422406677/scratchpad/deck/pos-ai-talk-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08760"/>
            <a:ext cx="2395728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46304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719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LINEで送るだけ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職種を選んでURLを作り、LINEで送るだけ。応募者は登録なしでスマホから受けられます。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172200" y="297180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46520" y="3227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条件はボタンで選ぶ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出勤日数・曜日・時間帯・勤務開始・通勤・経験。夜のお店はお酒・年齢の確認も（1分ほど）。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4736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AIと1分ほど話す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自己紹介・やってみたい理由・お店からの質問（3つまで）。話している姿を録画します。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画面は見本です（お店・応募者は架空）。届くもの：録画・顔の写真3枚・選んだ答えの一覧・話し方の雰囲気のまとめ・会話の文字。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AI面接で、ここまで減らせます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お店が見るのは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1分の録画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届いた録画と選んだ答えを見て決めるだけ。対面の面接はいりません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666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ボタンを押すとLINEが開き、送る文もアプリが作ります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47488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6088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自動で届く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受け終わると、録画・写真・選んだ答えの一覧・話し方の雰囲気のまとめが届きます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6912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512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2551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日程調整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いらない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面接の日を決めるやりとりがなくなります。応募者もお店に来なくてOK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46336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74936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節約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体入の前に会う人をしぼれるので、合わない人の体入費が減ります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応募者は、ボタンで選ぶのに1分ほど・AIと話すのが1分ほど。AIは合否を決めません。採用はお店が決めます。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あなたのお店がほしい人か、会う前にわかる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91656" y="1682496"/>
            <a:ext cx="5230368" cy="3172968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pos-ai-result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51206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190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条件が一覧でわかる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出勤日数・曜日・時間帯・勤務開始・通勤・経験を、全員が同じボタンで答えます。選んだ答えが一覧で届きます。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2278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お店の質問も聞ける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お店から聞きたいことを3つまで。AIの面接官が会話の中で聞きます。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736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話している姿が見える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03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自己紹介とやってみたい理由を話す姿の録画と顔の写真。雰囲気・話し方・表情がわかります。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4937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画面は見本です（お店・応募者は架空）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AIは合否を決めません。見た目についてもAIは何も言いません。録画と写真を見て、お店が決めます。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使い方は、5つのステップ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66544" cy="1828800"/>
          </a:xfrm>
          <a:prstGeom prst="roundRect">
            <a:avLst>
              <a:gd name="adj" fmla="val 75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URLを作る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職種を選ぶだけ。URLは1回だけ・14日まで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98064" y="1463040"/>
            <a:ext cx="2066544" cy="1828800"/>
          </a:xfrm>
          <a:prstGeom prst="roundRect">
            <a:avLst>
              <a:gd name="adj" fmla="val 75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6664" y="1645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LINEで送る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送る文はアプリが作る。ボタン1つ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47488" y="1463040"/>
            <a:ext cx="2066544" cy="1828800"/>
          </a:xfrm>
          <a:prstGeom prst="roundRect">
            <a:avLst>
              <a:gd name="adj" fmla="val 75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6088" y="1645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24728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ボタンで選んで、AIと1分ほど話す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96912" y="1463040"/>
            <a:ext cx="2066544" cy="1828800"/>
          </a:xfrm>
          <a:prstGeom prst="roundRect">
            <a:avLst>
              <a:gd name="adj" fmla="val 75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512" y="1645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255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結果が届く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録画・写真・選んだ答えが自動で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46336" y="1463040"/>
            <a:ext cx="2066544" cy="1828800"/>
          </a:xfrm>
          <a:prstGeom prst="roundRect">
            <a:avLst>
              <a:gd name="adj" fmla="val 75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1645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7493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323576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お店が分ける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合格・二次面接へ・検討・不合格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9496" y="3602736"/>
            <a:ext cx="4773168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29" name="Image 0" descr="/tmp/claude-0/-home-user-GACHICAREERAI/b3a26714-2895-56f0-b4c8-705422406677/scratchpad/deck/pos-ai-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57600"/>
            <a:ext cx="4663440" cy="21945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705856" y="3922776"/>
            <a:ext cx="591616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31" name="Image 1" descr="/tmp/claude-0/-home-user-GACHICAREERAI/b3a26714-2895-56f0-b4c8-705422406677/scratchpad/deck/pos-ai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977640"/>
            <a:ext cx="5806440" cy="11887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分けた結果は応募者には知らせません。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安心して使えるように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録画は同意してから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応募者は、録画されることに同意してから面接を受けます。同意しないと受けられません。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2816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90日で自動で消える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録画・写真・会話は90日で自動で消えます。お店の画面からいつでも消せます。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7680" y="150876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76479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ほかのお店からは見えない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33172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結果はそのお店の画面だけで見られます。評価は応募者に見せません。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AIは合否を決めない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AIのまとめは参考です。採用するかどうかは、お店の人が会って決めます。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816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248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変更の記録・権限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0248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だれが・いつ・何を変えたか（改ざんチェックつき）。アカウントごとの権限。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7680" y="3749040"/>
            <a:ext cx="3505200" cy="1965960"/>
          </a:xfrm>
          <a:prstGeom prst="roundRect">
            <a:avLst>
              <a:gd name="adj" fmla="val 697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2000" y="4005072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年齢・本人確認はお店で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4572000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夜のお店の年齢・本人確認は、AI面接ではなく必ずお店で身分証を見て行ってください。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昼のお店・夜のお店の主な機能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昼のお店（飲食店）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A2F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配置図で卓の受付・注文・会計、分け払い・割り勘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QR注文（写真つきメニュー・飲み放題の残り時間）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厨房の画面（料理／ドリンクの持ち場）・券売機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お持ち帰りの軽減税率・深夜料金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ポイント・会員証（名前を聞かずに）・クーポン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打刻・シフト・給料（深夜時給・交通費・前借り）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860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セット料金・延長（もうすぐ終わる卓を赤で）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本指名・場内指名・同伴、付け回し・タイムテーブル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バック・売上や指名で変わる時給・歩合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売掛（ツケ）・ボトルキープ・顧客カルテ・来客予定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源泉徴収（ホステス等の報酬）・送りの手当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キャストモード（給料・成績・確定申告の案内）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注文から会計まで（昼のお店）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5687568" cy="4146572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577840" cy="40368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463040"/>
            <a:ext cx="507492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169164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卓を開く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9202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配置図で卓を選んで人数を入れる。1階／2階のタブも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37960" y="2542032"/>
            <a:ext cx="507492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77063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633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9992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オプション・飲み放題／食べ放題・折半。注文は厨房の画面へ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3621024"/>
            <a:ext cx="507492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3849624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7124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お会計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40782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分け払い・分けて会計・ポイント／クーポン・Square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37960" y="4700016"/>
            <a:ext cx="507492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4928616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47914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51572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明細・レシート・領収書を印刷。会員番号のQRつき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画面は見本です（店名・数字は架空）。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お会計でできること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4590288" cy="4259008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chec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4480560" cy="4149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46304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分けて払う・分けて会計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現金＋カードなど払い方を分けたり、1つの卓を分けて会計したり。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41080" y="146304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消費税・軽減税率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店内／お持ち帰りを選んで、お持ち帰りは軽減税率で計算。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0" y="297180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3227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深夜料金・サービス料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22時からの注文に10%など。夜はサービス料も会計でそのまま。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41080" y="297180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15400" y="3227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ポイント・クーポン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会員証のQRでポイント。円引き・％引き・期間・回数のクーポン。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0" y="448056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4736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Square・売掛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カード・交通系IC・QR決済はSquareで。夜は売掛（ツケ）も。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41080" y="4480560"/>
            <a:ext cx="29718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15400" y="4736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伝票の直しは理由つき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15400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直す・消すときは理由が必須。あとから見られます。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画面は見本です（店名・数字は架空）。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厨房の画面・QR注文・券売機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6510528" cy="3006361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kitch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400800" cy="28966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463040"/>
            <a:ext cx="4251960" cy="13716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719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厨房の画面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注文が卓ごとにまとまり、作り始める→できた。料理／ドリンクの持ち場を分けられ、大きな音・自動印刷も。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3017520"/>
            <a:ext cx="4251960" cy="13716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QR注文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お客さまのスマホや卓のタブレットから、写真つきメニューで注文。飲み放題の残り時間・店員の呼び出しも。ログインなし。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60920" y="4572000"/>
            <a:ext cx="4251960" cy="13716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828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券売機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5394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お店の端末を券売機に。お金を入れてメニューを選び、食券を印刷できます。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709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注文の伝えもれ・聞きまちがいを減らし、ホールは配膳と接客に集中できます。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画面は見本です（店名・数字は架空）。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夜のお店：伝票・延長・指名・付け回し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3858768" cy="2962811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3749040" cy="28530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17136" y="1453896"/>
            <a:ext cx="3355848" cy="3152278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6" name="Image 1" descr="/tmp/claude-0/-home-user-GACHICAREERAI/b3a26714-2895-56f0-b4c8-705422406677/scratchpad/deck/m-tsukemawas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08760"/>
            <a:ext cx="3246120" cy="30425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38160" y="146304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ホール・延長：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卓ごとに人数・残り時間・合計。もうすぐ終わる卓は赤、自動延長も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指名・同伴：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本指名・場内指名・同伴を記録。リクエストの売上は指名した子へ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付け回し：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卓→キャスト→付け方→何分を選ぶだけ。キャストのスマホに「今の席・あと何分」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伝票の内わけ：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お店・キャスト・利益の内わけ。直したときは理由つきで記録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売掛・ボトル：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ツケの一覧と回収、ボトルキープの残り・期限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画面は見本です（店名・名前・数字は架空）。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打刻・シフト・給料を自動で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6876288" cy="2261053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sal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766560" cy="2151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" y="3877056"/>
            <a:ext cx="2726478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6" name="Image 1" descr="/tmp/claude-0/-home-user-GACHICAREERAI/b3a26714-2895-56f0-b4c8-705422406677/scratchpad/deck/m-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931920"/>
            <a:ext cx="2616750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80960" y="14630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ICカード（Suicaなど）でタッチ。打刻の直し・修正申請の承認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スタッフがスマホで希望を出す。締め切り・決めたシフト・臨時休業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給料：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日払い・週払い・月払い。時給・手当・控除、深夜時給・交通費・前借りの差し引き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商品ごとのバック、売上や指名で変わる時給・歩合、送りの手当、源泉徴収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決めたあとも安心：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決めたあとに打刻や伝票を直すと「決めた後に変更あり」とお知らせ。Excel出力も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画面は見本です（名前・数字は架空）。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お金・日報・在庫・顧客もひとつに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72184" y="1408176"/>
            <a:ext cx="9253728" cy="2942380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463040"/>
            <a:ext cx="9144000" cy="28326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0"/>
            <a:ext cx="2628900" cy="1463040"/>
          </a:xfrm>
          <a:prstGeom prst="roundRect">
            <a:avLst>
              <a:gd name="adj" fmla="val 937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82803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949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利益（売上−手数料−人件費−仕入れ−経費）・原価率・レジの現金・明細。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0420" y="4572000"/>
            <a:ext cx="2628900" cy="1463040"/>
          </a:xfrm>
          <a:prstGeom prst="roundRect">
            <a:avLst>
              <a:gd name="adj" fmla="val 937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4740" y="482803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日報・月報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634740" y="53949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売上・客数・客単価・支払い方法ごと・人件費・よく出た商品。印刷も。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4572000"/>
            <a:ext cx="2628900" cy="1463040"/>
          </a:xfrm>
          <a:prstGeom prst="roundRect">
            <a:avLst>
              <a:gd name="adj" fmla="val 937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482803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出数・在庫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3949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よく出たメニュー、在庫・入荷・原価。氷・おしぼりなども。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83980" y="4572000"/>
            <a:ext cx="2628900" cy="1463040"/>
          </a:xfrm>
          <a:prstGeom prst="roundRect">
            <a:avLst>
              <a:gd name="adj" fmla="val 937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58300" y="4828032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顧客・会計ソフトへ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258300" y="53949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顧客カルテ・来店の記録。freee・マネーフォワード・弥生用のCSV。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画面は見本です（店名・数字は架空）。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スタッフ・キャストは自分のスマホで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8096" y="1408176"/>
            <a:ext cx="2304288" cy="4375953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m-staff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194560" cy="42662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28416" y="1408176"/>
            <a:ext cx="2304288" cy="4375953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6" name="Image 1" descr="/tmp/claude-0/-home-user-GACHICAREERAI/b3a26714-2895-56f0-b4c8-705422406677/scratchpad/deck/m-cast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63040"/>
            <a:ext cx="2194560" cy="42662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0" y="1463040"/>
            <a:ext cx="2583180" cy="1874520"/>
          </a:xfrm>
          <a:prstGeom prst="roundRect">
            <a:avLst>
              <a:gd name="adj" fmla="val 73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92240" y="1719072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2286000"/>
            <a:ext cx="208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希望を出す・決まったシフトを見る。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029700" y="1463040"/>
            <a:ext cx="2583180" cy="1874520"/>
          </a:xfrm>
          <a:prstGeom prst="roundRect">
            <a:avLst>
              <a:gd name="adj" fmla="val 73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304020" y="1719072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給料・明細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9304020" y="2286000"/>
            <a:ext cx="208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いくらもらえるか、日別の明細。前借りも。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3566160"/>
            <a:ext cx="2583180" cy="1874520"/>
          </a:xfrm>
          <a:prstGeom prst="roundRect">
            <a:avLst>
              <a:gd name="adj" fmla="val 73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3822192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チャット・通知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4389120"/>
            <a:ext cx="208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1対1・グループ・お知らせ。写真・既読。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029700" y="3566160"/>
            <a:ext cx="2583180" cy="1874520"/>
          </a:xfrm>
          <a:prstGeom prst="roundRect">
            <a:avLst>
              <a:gd name="adj" fmla="val 73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04020" y="3822192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夜は成績・お客さま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9304020" y="4389120"/>
            <a:ext cx="208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成績・ランキング、自分のお客さま、来客予定、確定申告の案内。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0" y="5486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「給料いくら？」「シフトどうなった？」の問い合わせが減ります。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画面は見本です（名前・数字は架空）。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対応しているお店（飲食店28種類・夜のお店7種類）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19072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和食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和食レストラン・寿司・そば・うどん・定食・食堂・丼もの・牛丼・とんかつ・揚げ物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4992" y="1463040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9312" y="1719072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居酒屋・焼き鳥・お酒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639312" y="228600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居酒屋・焼き鳥・バー・バル（キャストなし）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463040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5664" y="1719072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肉・鉄板・鍋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28600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焼肉・ステーキ・鉄板焼き・お好み焼き・もんじゃ・しゃぶしゃぶ・鍋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7696" y="1463040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72016" y="1719072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麺・中華・アジア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272016" y="228600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ラーメン・つけ麺・中華料理・韓国料理・カレー・インド料理・エスニック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洋食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90288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洋食レストラン・イタリアン・フレンチ・ビストロ・ハンバーガー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64992" y="3767328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9312" y="40233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カフェ・パン・スイーツ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639312" y="4590288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カフェ・パン屋・ベーカリー・ケーキ・スイーツ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767328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5664" y="40233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テイクアウト・食べ放題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4590288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お弁当・テイクアウト・キッチンカー・ビュッフェ・食べ放題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97696" y="3767328"/>
            <a:ext cx="2615184" cy="2103120"/>
          </a:xfrm>
          <a:prstGeom prst="roundRect">
            <a:avLst>
              <a:gd name="adj" fmla="val 6522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2016" y="40233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4590288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ホストクラブ・キャバクラ・ガールズバー・ボーイズバー・コンセプトカフェ・スナック・ラウンジ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このほかの飲食店も、お気軽にご相談ください。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料金プラン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ライトプラン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お会計と売上を、まず楽に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indent="0" marL="0">
              <a:buNone/>
            </a:pPr>
            <a:r>
              <a:rPr lang="en-US" sz="2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11,000円</a:t>
            </a:r>
            <a:pPr indent="0" marL="0">
              <a:buNone/>
            </a:pPr>
            <a:r>
              <a:rPr lang="en-US" sz="11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（税込）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注文・会計・伝票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QR注文・厨房の画面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ポイント・会員証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Square・レシート印刷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1557D6"/>
            </a:solidFill>
            <a:prstDash val="solid"/>
          </a:ln>
          <a:effectLst>
            <a:outerShdw sx="100000" sy="100000" kx="0" ky="0" algn="bl" rotWithShape="0" blurRad="152400" dist="50800" dir="5400000">
              <a:srgbClr val="1557D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2344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キャンペーン価格・おすすめ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スタンダードプラン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お店の運営を、まるごと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月額（税込）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 22,000円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 33,000円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今申し込んだお店は、ずっとこの価格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ライトの機能すべて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顧客・クーポン・お金・日報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AI面接（追加料金なし）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1584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個別プラン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お店のやり方に合わせて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indent="0" marL="0">
              <a:buNone/>
            </a:pPr>
            <a:r>
              <a:rPr lang="en-US" sz="2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55,000円〜</a:t>
            </a:r>
            <a:pPr indent="0" marL="0">
              <a:buNone/>
            </a:pPr>
            <a:r>
              <a:rPr lang="en-US" sz="11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（税込）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ライト＋スタンダードの機能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お店独自の給料の計算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データの取り込み・帳票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AI面接（追加料金なし）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料金は1店舗ごと・初期費用0円・1か月無料。キャンペーン期間中のお申し込みは、契約が続くかぎりキャンペーン価格のまま（予告なく終了する場合があります）。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グループ店・年間契約・導入の流れ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691640" cy="1645920"/>
          </a:xfrm>
          <a:prstGeom prst="roundRect">
            <a:avLst>
              <a:gd name="adj" fmla="val 8333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1年契約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26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おトク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1508760"/>
            <a:ext cx="1691640" cy="1645920"/>
          </a:xfrm>
          <a:prstGeom prst="roundRect">
            <a:avLst>
              <a:gd name="adj" fmla="val 8333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2年契約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26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おトク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1691640" cy="1645920"/>
          </a:xfrm>
          <a:prstGeom prst="roundRect">
            <a:avLst>
              <a:gd name="adj" fmla="val 8333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3年契約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26B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5か月分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5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おトク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年間契約（前払い）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自動では更新しません（終わる1か月前にお知らせ）。途中でやめても、残りの期間のお金はお返しできません。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何店舗でも。料金は1店舗ごと（足した日からの日割り）。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521208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69164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1572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電話・フォーム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560320"/>
            <a:ext cx="521208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78892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670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1か月無料でお試し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カード登録なしなら勝手に請求されません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657600"/>
            <a:ext cx="521208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88620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登録・設定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133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ホームページからのお申し込みは登録代行が無料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5212080" cy="914400"/>
          </a:xfrm>
          <a:prstGeom prst="roundRect">
            <a:avLst>
              <a:gd name="adj" fmla="val 1500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4983480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4864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本番スタート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5230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AI面接のURLもすぐ送れます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まずは無料で、1か月。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お電話かフォームから。お店の種類と店舗数を教えてください。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無料でお試し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1か月無料。カードを登録しなければ請求されません。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AI面接を体験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最初の応募者に、AI面接のURLを送ってみてください。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お問い合わせ・無料お試しのお申し込み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074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 080-2420-4900（年中無休・24時間受付）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486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akitogroup.jp/posupos　／　info@akitogroup.jp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合同会社AKITOグループ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東京都豊島区東池袋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POS">
  <a:themeElements>
    <a:clrScheme name="POSPOS">
      <a:dk1>
        <a:srgbClr val="13234A"/>
      </a:dk1>
      <a:lt1>
        <a:srgbClr val="FFFFFF"/>
      </a:lt1>
      <a:dk2>
        <a:srgbClr val="0E1F4D"/>
      </a:dk2>
      <a:lt2>
        <a:srgbClr val="F2F6FD"/>
      </a:lt2>
      <a:accent1>
        <a:srgbClr val="1557D6"/>
      </a:accent1>
      <a:accent2>
        <a:srgbClr val="FFB547"/>
      </a:accent2>
      <a:accent3>
        <a:srgbClr val="E5484D"/>
      </a:accent3>
      <a:accent4>
        <a:srgbClr val="22A06B"/>
      </a:accent4>
      <a:accent5>
        <a:srgbClr val="288DFD"/>
      </a:accent5>
      <a:accent6>
        <a:srgbClr val="7A3FB0"/>
      </a:accent6>
      <a:hlink>
        <a:srgbClr val="1557D6"/>
      </a:hlink>
      <a:folHlink>
        <a:srgbClr val="7A3FB0"/>
      </a:folHlink>
    </a:clrScheme>
    <a:fontScheme name="POSPOS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合同会社AKITOグループ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ポスポス サービス資料</dc:title>
  <dc:subject>PptxGenJS Presentation</dc:subject>
  <dc:creator>合同会社AKITOグループ</dc:creator>
  <cp:lastModifiedBy>合同会社AKITOグループ</cp:lastModifiedBy>
  <cp:revision>1</cp:revision>
  <dcterms:created xsi:type="dcterms:W3CDTF">2026-10-26T09:59:11Z</dcterms:created>
  <dcterms:modified xsi:type="dcterms:W3CDTF">2026-10-26T09:59:11Z</dcterms:modified>
</cp:coreProperties>
</file>