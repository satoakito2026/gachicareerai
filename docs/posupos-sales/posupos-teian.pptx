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あいさつ。今日は「採用にかかっている時間とお金」と、それをレジと一緒に減らす方法のお話です。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問いかけ。「先月、応募は何人ありましたか？」「1人の面接に、準備も入れて何分くらいかかっていますか？」と聞いて、相手の数字を書きとめる。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さっき聞いた相手の数字で計算しなおして見せると効く。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ここで実際の画面を見せる（デモ）。可能なら、その場で面接のURLを作ってLINEで送ってみせる。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クロージング。「まず1か月、次の応募者にURLを送ってみませんか？」と提案する。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0E1F4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GACHICAREERAI/b3a26714-2895-56f0-b4c8-705422406677/scratchpad/deck/posupos-lockup-n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172200"/>
            <a:ext cx="1527048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defRPr>
            </a:lvl1pPr>
          </a:lstStyle>
          <a:p>
            <a:pPr indent="0" marL="0">
              <a:buNone/>
            </a:pPr>
            <a:endParaRPr lang="en-US" sz="3000" dirty="0"/>
          </a:p>
        </p:txBody>
      </p:sp>
      <p:pic>
        <p:nvPicPr>
          <p:cNvPr id="3" name="Image 0" descr="/tmp/claude-0/-home-user-GACHICAREERAI/b3a26714-2895-56f0-b4c8-705422406677/scratchpad/deck/posupos-locku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49840" y="6263640"/>
            <a:ext cx="1353312" cy="36576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0936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878"/>
                </a:solidFill>
                <a:latin typeface="Yu Gothic"/>
                <a:ea typeface="Yu Gothic"/>
                <a:cs typeface="Yu Gothic"/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0936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878"/>
                </a:solidFill>
                <a:latin typeface="Yu Gothic"/>
                <a:ea typeface="Yu Gothic"/>
                <a:cs typeface="Yu Gothic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GACHICAREERAI/b3a26714-2895-56f0-b4c8-705422406677/scratchpad/deck/posupos-logo-full-n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55280" y="1371600"/>
            <a:ext cx="3566160" cy="3255264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731520" y="1097280"/>
            <a:ext cx="1371600" cy="384048"/>
          </a:xfrm>
          <a:prstGeom prst="roundRect">
            <a:avLst>
              <a:gd name="adj" fmla="val 50000"/>
            </a:avLst>
          </a:prstGeom>
          <a:solidFill>
            <a:srgbClr val="FFB547"/>
          </a:solidFill>
          <a:ln w="12700">
            <a:solidFill>
              <a:srgbClr val="FFB547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731520" y="1097280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220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世界初※</a:t>
            </a:r>
            <a:endParaRPr lang="en-US" sz="1300" dirty="0"/>
          </a:p>
        </p:txBody>
      </p:sp>
      <p:sp>
        <p:nvSpPr>
          <p:cNvPr id="5" name="Text 2"/>
          <p:cNvSpPr txBox="1"/>
          <p:nvPr/>
        </p:nvSpPr>
        <p:spPr>
          <a:xfrm>
            <a:off x="2240280" y="1097280"/>
            <a:ext cx="5486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面接を自動化した、POSシステム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1828800"/>
            <a:ext cx="71323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面接の時間を、</a:t>
            </a:r>
            <a:endParaRPr lang="en-US" sz="4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お店の時間に。</a:t>
            </a:r>
            <a:endParaRPr lang="en-US" sz="44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388620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C9D6F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応募が来たらURLを送るだけ。</a:t>
            </a:r>
            <a:endParaRPr lang="en-US" sz="18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C9D6F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AIが一次面接をして、お店の面接は30秒〜1分。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498348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E58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ご提案資料　2026年10月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2377440" y="6217920"/>
            <a:ext cx="9235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FB0D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※ 世界初：2026年10月 当社調べ。POSレジに、AIによる応募者の一次面接の機能を標準でつけたサービスとして。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店長の時間、面接に何時間使っていますか？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645920"/>
            <a:ext cx="3474720" cy="301752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DCE4F2"/>
            </a:solidFill>
            <a:prstDash val="solid"/>
          </a:ln>
          <a:effectLst>
            <a:outerShdw sx="100000" sy="100000" kx="0" ky="0" algn="bl" rotWithShape="0" blurRad="101600" dist="38100" dir="5400000">
              <a:srgbClr val="13234A">
                <a:alpha val="12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822960" y="1874520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E548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①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60604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電話で日程調整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3200400"/>
            <a:ext cx="2926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営業中に折り返し、空いている日を何度もやりとり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297680" y="1645920"/>
            <a:ext cx="3474720" cy="301752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DCE4F2"/>
            </a:solidFill>
            <a:prstDash val="solid"/>
          </a:ln>
          <a:effectLst>
            <a:outerShdw sx="100000" sy="100000" kx="0" ky="0" algn="bl" rotWithShape="0" blurRad="101600" dist="38100" dir="5400000">
              <a:srgbClr val="13234A">
                <a:alpha val="1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4572000" y="1874520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E548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②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4572000" y="260604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対面で30分の面接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0" y="3200400"/>
            <a:ext cx="2926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ピークの合間に手を止めて、毎回同じ質問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8046720" y="1645920"/>
            <a:ext cx="3474720" cy="301752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DCE4F2"/>
            </a:solidFill>
            <a:prstDash val="solid"/>
          </a:ln>
          <a:effectLst>
            <a:outerShdw sx="100000" sy="100000" kx="0" ky="0" algn="bl" rotWithShape="0" blurRad="101600" dist="38100" dir="5400000">
              <a:srgbClr val="13234A">
                <a:alpha val="12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8321040" y="1874520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E548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③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8321040" y="260604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来ない・合わない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8321040" y="3200400"/>
            <a:ext cx="2926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ドタキャンの待ちぼうけ、体入してから合わないと気づく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502920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557D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この時間は、売上を作る時間でも、スタッフを育てる時間でもありません。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0936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878"/>
                </a:solidFill>
                <a:latin typeface="Yu Gothic"/>
                <a:ea typeface="Yu Gothic"/>
                <a:cs typeface="Yu Gothic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たとえば、月に応募が10人のお店では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600200"/>
            <a:ext cx="6400800" cy="731520"/>
          </a:xfrm>
          <a:prstGeom prst="roundRect">
            <a:avLst>
              <a:gd name="adj" fmla="val 18750"/>
            </a:avLst>
          </a:prstGeom>
          <a:solidFill>
            <a:srgbClr val="F2F6FD"/>
          </a:solidFill>
          <a:ln w="12700">
            <a:solidFill>
              <a:srgbClr val="F2F6FD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600200"/>
            <a:ext cx="4389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日程調整（1人15分）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5120640" y="160020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150分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548640" y="2468880"/>
            <a:ext cx="6400800" cy="731520"/>
          </a:xfrm>
          <a:prstGeom prst="roundRect">
            <a:avLst>
              <a:gd name="adj" fmla="val 18750"/>
            </a:avLst>
          </a:prstGeom>
          <a:solidFill>
            <a:srgbClr val="F2F6FD"/>
          </a:solidFill>
          <a:ln w="12700">
            <a:solidFill>
              <a:srgbClr val="F2F6FD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468880"/>
            <a:ext cx="4389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対面の面接（1人30分）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5120640" y="246888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300分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548640" y="3337560"/>
            <a:ext cx="6400800" cy="731520"/>
          </a:xfrm>
          <a:prstGeom prst="roundRect">
            <a:avLst>
              <a:gd name="adj" fmla="val 18750"/>
            </a:avLst>
          </a:prstGeom>
          <a:solidFill>
            <a:srgbClr val="F2F6FD"/>
          </a:solidFill>
          <a:ln w="12700">
            <a:solidFill>
              <a:srgbClr val="F2F6FD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22960" y="3337560"/>
            <a:ext cx="4389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ドタキャンで空けた時間（3人×30分）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5120640" y="333756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90分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548640" y="4297680"/>
            <a:ext cx="6400800" cy="914400"/>
          </a:xfrm>
          <a:prstGeom prst="roundRect">
            <a:avLst>
              <a:gd name="adj" fmla="val 15000"/>
            </a:avLst>
          </a:prstGeom>
          <a:solidFill>
            <a:srgbClr val="0E1F4D"/>
          </a:solidFill>
          <a:ln w="12700">
            <a:solidFill>
              <a:srgbClr val="0E1F4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2960" y="4297680"/>
            <a:ext cx="1828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1か月に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3108960" y="4297680"/>
            <a:ext cx="3657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rgbClr val="FFE58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約9時間</a:t>
            </a:r>
            <a:endParaRPr lang="en-US" sz="3400" dirty="0"/>
          </a:p>
        </p:txBody>
      </p:sp>
      <p:sp>
        <p:nvSpPr>
          <p:cNvPr id="15" name="Shape 13"/>
          <p:cNvSpPr/>
          <p:nvPr/>
        </p:nvSpPr>
        <p:spPr>
          <a:xfrm>
            <a:off x="7406640" y="1600200"/>
            <a:ext cx="4206240" cy="3611880"/>
          </a:xfrm>
          <a:prstGeom prst="roundRect">
            <a:avLst>
              <a:gd name="adj" fmla="val 3797"/>
            </a:avLst>
          </a:prstGeom>
          <a:solidFill>
            <a:srgbClr val="FFFFFF"/>
          </a:solidFill>
          <a:ln w="12700">
            <a:solidFill>
              <a:srgbClr val="DCE4F2"/>
            </a:solidFill>
            <a:prstDash val="solid"/>
          </a:ln>
          <a:effectLst>
            <a:outerShdw sx="100000" sy="100000" kx="0" ky="0" algn="bl" rotWithShape="0" blurRad="101600" dist="38100" dir="5400000">
              <a:srgbClr val="13234A">
                <a:alpha val="12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7726680" y="182880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557D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ポスポスなら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7726680" y="2377440"/>
            <a:ext cx="36576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URLを送る：1人1秒</a:t>
            </a: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お店の面接：1人30秒〜1分</a:t>
            </a: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日程調整・待ちぼうけ：なし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7726680" y="411480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557D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→ 月10分ほど</a:t>
            </a:r>
            <a:endParaRPr lang="en-US" sz="2800" dirty="0"/>
          </a:p>
        </p:txBody>
      </p:sp>
      <p:sp>
        <p:nvSpPr>
          <p:cNvPr id="19" name="Text 17"/>
          <p:cNvSpPr txBox="1"/>
          <p:nvPr/>
        </p:nvSpPr>
        <p:spPr>
          <a:xfrm>
            <a:off x="1280160" y="6272784"/>
            <a:ext cx="8595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説明のための架空の例です（応募10人・ドタキャン3人の場合）。応募者がAIと話す時間（10〜15分）は、お店の時間には入りません。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0936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878"/>
                </a:solidFill>
                <a:latin typeface="Yu Gothic"/>
                <a:ea typeface="Yu Gothic"/>
                <a:cs typeface="Yu Gothic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夜のお店なら、体入費のむだも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645920"/>
            <a:ext cx="6400800" cy="777240"/>
          </a:xfrm>
          <a:prstGeom prst="roundRect">
            <a:avLst>
              <a:gd name="adj" fmla="val 17647"/>
            </a:avLst>
          </a:prstGeom>
          <a:solidFill>
            <a:srgbClr val="F2F6FD"/>
          </a:solidFill>
          <a:ln w="12700">
            <a:solidFill>
              <a:srgbClr val="F2F6FD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645920"/>
            <a:ext cx="4206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体入の時給 3,000円 × 4時間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4846320" y="1645920"/>
            <a:ext cx="1920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12,000円／人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548640" y="2560320"/>
            <a:ext cx="6400800" cy="777240"/>
          </a:xfrm>
          <a:prstGeom prst="roundRect">
            <a:avLst>
              <a:gd name="adj" fmla="val 17647"/>
            </a:avLst>
          </a:prstGeom>
          <a:solidFill>
            <a:srgbClr val="F2F6FD"/>
          </a:solidFill>
          <a:ln w="12700">
            <a:solidFill>
              <a:srgbClr val="F2F6FD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560320"/>
            <a:ext cx="4206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合わなかった体入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4846320" y="2560320"/>
            <a:ext cx="1920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月に5人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548640" y="3657600"/>
            <a:ext cx="6400800" cy="1097280"/>
          </a:xfrm>
          <a:prstGeom prst="roundRect">
            <a:avLst>
              <a:gd name="adj" fmla="val 12500"/>
            </a:avLst>
          </a:prstGeom>
          <a:solidFill>
            <a:srgbClr val="3A1F6B"/>
          </a:solidFill>
          <a:ln w="12700">
            <a:solidFill>
              <a:srgbClr val="3A1F6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22960" y="3657600"/>
            <a:ext cx="3291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1か月に出ていく体入費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3840480" y="3657600"/>
            <a:ext cx="2926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600" b="1" dirty="0">
                <a:solidFill>
                  <a:srgbClr val="FFE58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60,000円</a:t>
            </a:r>
            <a:endParaRPr lang="en-US" sz="3600" dirty="0"/>
          </a:p>
        </p:txBody>
      </p:sp>
      <p:sp>
        <p:nvSpPr>
          <p:cNvPr id="12" name="Shape 10"/>
          <p:cNvSpPr/>
          <p:nvPr/>
        </p:nvSpPr>
        <p:spPr>
          <a:xfrm>
            <a:off x="7406640" y="1645920"/>
            <a:ext cx="4206240" cy="3108960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12700">
            <a:solidFill>
              <a:srgbClr val="DCE4F2"/>
            </a:solidFill>
            <a:prstDash val="solid"/>
          </a:ln>
          <a:effectLst>
            <a:outerShdw sx="100000" sy="100000" kx="0" ky="0" algn="bl" rotWithShape="0" blurRad="101600" dist="38100" dir="5400000">
              <a:srgbClr val="13234A">
                <a:alpha val="12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7726680" y="187452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FA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体入の前にAI面接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7726680" y="2423160"/>
            <a:ext cx="36118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550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入れる日・時間、話し方、雰囲気を体入の前に確認。体入してもらう人をしぼれるので、合わない人の体入費が減ります。</a:t>
            </a:r>
            <a:endParaRPr lang="en-US" sz="1550" dirty="0"/>
          </a:p>
        </p:txBody>
      </p:sp>
      <p:sp>
        <p:nvSpPr>
          <p:cNvPr id="15" name="Text 13"/>
          <p:cNvSpPr txBox="1"/>
          <p:nvPr/>
        </p:nvSpPr>
        <p:spPr>
          <a:xfrm>
            <a:off x="1280160" y="6272784"/>
            <a:ext cx="8595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説明のための架空の例です。体入の条件はお店ごとに違います。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0936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878"/>
                </a:solidFill>
                <a:latin typeface="Yu Gothic"/>
                <a:ea typeface="Yu Gothic"/>
                <a:cs typeface="Yu Gothic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解決：ポスポスのAI面接（世界初※）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39496" y="1453896"/>
            <a:ext cx="5047488" cy="4178808"/>
          </a:xfrm>
          <a:prstGeom prst="roundRect">
            <a:avLst>
              <a:gd name="adj" fmla="val 2188"/>
            </a:avLst>
          </a:prstGeom>
          <a:solidFill>
            <a:srgbClr val="FFFFFF"/>
          </a:solidFill>
          <a:ln w="12700">
            <a:solidFill>
              <a:srgbClr val="DCE4F2"/>
            </a:solidFill>
            <a:prstDash val="solid"/>
          </a:ln>
          <a:effectLst>
            <a:outerShdw sx="100000" sy="100000" kx="0" ky="0" algn="bl" rotWithShape="0" blurRad="127000" dist="50800" dir="5400000">
              <a:srgbClr val="13234A">
                <a:alpha val="15000"/>
              </a:srgbClr>
            </a:outerShdw>
          </a:effectLst>
        </p:spPr>
      </p:sp>
      <p:pic>
        <p:nvPicPr>
          <p:cNvPr id="4" name="Image 0" descr="/tmp/claude-0/-home-user-GACHICAREERAI/b3a26714-2895-56f0-b4c8-705422406677/scratchpad/deck/pos-ai-interview-n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508760"/>
            <a:ext cx="4937760" cy="40690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980176" y="1453896"/>
            <a:ext cx="5641848" cy="3950208"/>
          </a:xfrm>
          <a:prstGeom prst="roundRect">
            <a:avLst>
              <a:gd name="adj" fmla="val 2315"/>
            </a:avLst>
          </a:prstGeom>
          <a:solidFill>
            <a:srgbClr val="FFFFFF"/>
          </a:solidFill>
          <a:ln w="12700">
            <a:solidFill>
              <a:srgbClr val="DCE4F2"/>
            </a:solidFill>
            <a:prstDash val="solid"/>
          </a:ln>
          <a:effectLst>
            <a:outerShdw sx="100000" sy="100000" kx="0" ky="0" algn="bl" rotWithShape="0" blurRad="127000" dist="50800" dir="5400000">
              <a:srgbClr val="13234A">
                <a:alpha val="15000"/>
              </a:srgbClr>
            </a:outerShdw>
          </a:effectLst>
        </p:spPr>
      </p:sp>
      <p:pic>
        <p:nvPicPr>
          <p:cNvPr id="6" name="Image 1" descr="/tmp/claude-0/-home-user-GACHICAREERAI/b3a26714-2895-56f0-b4c8-705422406677/scratchpad/deck/pos-ai-result-da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0" y="1508760"/>
            <a:ext cx="5532120" cy="384048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280160" y="6272784"/>
            <a:ext cx="8595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画面は見本です（お店・応募者は架空）。※ 世界初：2026年10月 当社調べ。POSレジに、AIによる応募者の一次面接の機能を標準でつけたサービスとして。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0936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878"/>
                </a:solidFill>
                <a:latin typeface="Yu Gothic"/>
                <a:ea typeface="Yu Gothic"/>
                <a:cs typeface="Yu Gothic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お店の手間は、ここまで減ります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508760"/>
            <a:ext cx="2066544" cy="4206240"/>
          </a:xfrm>
          <a:prstGeom prst="roundRect">
            <a:avLst>
              <a:gd name="adj" fmla="val 6637"/>
            </a:avLst>
          </a:prstGeom>
          <a:solidFill>
            <a:srgbClr val="0E1F4D"/>
          </a:solidFill>
          <a:ln w="12700">
            <a:solidFill>
              <a:srgbClr val="0E1F4D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77240" y="1783080"/>
            <a:ext cx="1188720" cy="384048"/>
          </a:xfrm>
          <a:prstGeom prst="roundRect">
            <a:avLst>
              <a:gd name="adj" fmla="val 50000"/>
            </a:avLst>
          </a:prstGeom>
          <a:solidFill>
            <a:srgbClr val="2A3F80"/>
          </a:solidFill>
          <a:ln w="12700">
            <a:solidFill>
              <a:srgbClr val="2A3F8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783080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お店の面接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2377440"/>
            <a:ext cx="170078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E58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30秒〜1分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3703320"/>
            <a:ext cx="160934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DCE4F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届いたまとめ・録画・会話を見て決めるだけ。対面の面接はいりません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2798064" y="1508760"/>
            <a:ext cx="2066544" cy="4206240"/>
          </a:xfrm>
          <a:prstGeom prst="roundRect">
            <a:avLst>
              <a:gd name="adj" fmla="val 6637"/>
            </a:avLst>
          </a:prstGeom>
          <a:solidFill>
            <a:srgbClr val="0E1F4D"/>
          </a:solidFill>
          <a:ln w="12700">
            <a:solidFill>
              <a:srgbClr val="0E1F4D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026664" y="1783080"/>
            <a:ext cx="1188720" cy="384048"/>
          </a:xfrm>
          <a:prstGeom prst="roundRect">
            <a:avLst>
              <a:gd name="adj" fmla="val 50000"/>
            </a:avLst>
          </a:prstGeom>
          <a:solidFill>
            <a:srgbClr val="2A3F80"/>
          </a:solidFill>
          <a:ln w="12700">
            <a:solidFill>
              <a:srgbClr val="2A3F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026664" y="1783080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URLを送る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2980944" y="2377440"/>
            <a:ext cx="170078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E58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1秒</a:t>
            </a:r>
            <a:endParaRPr lang="en-US" sz="3200" dirty="0"/>
          </a:p>
        </p:txBody>
      </p:sp>
      <p:sp>
        <p:nvSpPr>
          <p:cNvPr id="12" name="Text 10"/>
          <p:cNvSpPr txBox="1"/>
          <p:nvPr/>
        </p:nvSpPr>
        <p:spPr>
          <a:xfrm>
            <a:off x="3026664" y="3703320"/>
            <a:ext cx="160934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DCE4F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ボタンを押すとLINEが開き、送る文もアプリが作ります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047488" y="1508760"/>
            <a:ext cx="2066544" cy="4206240"/>
          </a:xfrm>
          <a:prstGeom prst="roundRect">
            <a:avLst>
              <a:gd name="adj" fmla="val 6637"/>
            </a:avLst>
          </a:prstGeom>
          <a:solidFill>
            <a:srgbClr val="0E1F4D"/>
          </a:solidFill>
          <a:ln w="12700">
            <a:solidFill>
              <a:srgbClr val="0E1F4D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276088" y="1783080"/>
            <a:ext cx="1188720" cy="384048"/>
          </a:xfrm>
          <a:prstGeom prst="roundRect">
            <a:avLst>
              <a:gd name="adj" fmla="val 50000"/>
            </a:avLst>
          </a:prstGeom>
          <a:solidFill>
            <a:srgbClr val="2A3F80"/>
          </a:solidFill>
          <a:ln w="12700">
            <a:solidFill>
              <a:srgbClr val="2A3F8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276088" y="1783080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結果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5230368" y="2377440"/>
            <a:ext cx="170078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E58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自動で届く</a:t>
            </a:r>
            <a:endParaRPr lang="en-US" sz="2400" dirty="0"/>
          </a:p>
        </p:txBody>
      </p:sp>
      <p:sp>
        <p:nvSpPr>
          <p:cNvPr id="17" name="Text 15"/>
          <p:cNvSpPr txBox="1"/>
          <p:nvPr/>
        </p:nvSpPr>
        <p:spPr>
          <a:xfrm>
            <a:off x="5276088" y="3703320"/>
            <a:ext cx="160934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DCE4F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受け終わると、まとめ・入れる日と時間・写真・録画・会話が届きます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7296912" y="1508760"/>
            <a:ext cx="2066544" cy="4206240"/>
          </a:xfrm>
          <a:prstGeom prst="roundRect">
            <a:avLst>
              <a:gd name="adj" fmla="val 6637"/>
            </a:avLst>
          </a:prstGeom>
          <a:solidFill>
            <a:srgbClr val="0E1F4D"/>
          </a:solidFill>
          <a:ln w="12700">
            <a:solidFill>
              <a:srgbClr val="0E1F4D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525512" y="1783080"/>
            <a:ext cx="1188720" cy="384048"/>
          </a:xfrm>
          <a:prstGeom prst="roundRect">
            <a:avLst>
              <a:gd name="adj" fmla="val 50000"/>
            </a:avLst>
          </a:prstGeom>
          <a:solidFill>
            <a:srgbClr val="2A3F80"/>
          </a:solidFill>
          <a:ln w="12700">
            <a:solidFill>
              <a:srgbClr val="2A3F80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525512" y="1783080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日程調整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7479792" y="2377440"/>
            <a:ext cx="170078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E58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いらない</a:t>
            </a:r>
            <a:endParaRPr lang="en-US" sz="2400" dirty="0"/>
          </a:p>
        </p:txBody>
      </p:sp>
      <p:sp>
        <p:nvSpPr>
          <p:cNvPr id="22" name="Text 20"/>
          <p:cNvSpPr txBox="1"/>
          <p:nvPr/>
        </p:nvSpPr>
        <p:spPr>
          <a:xfrm>
            <a:off x="7525512" y="3703320"/>
            <a:ext cx="160934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DCE4F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面接の日を決めるやりとりがなくなります。応募者もお店に来なくてOK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9546336" y="1508760"/>
            <a:ext cx="2066544" cy="4206240"/>
          </a:xfrm>
          <a:prstGeom prst="roundRect">
            <a:avLst>
              <a:gd name="adj" fmla="val 6637"/>
            </a:avLst>
          </a:prstGeom>
          <a:solidFill>
            <a:srgbClr val="0E1F4D"/>
          </a:solidFill>
          <a:ln w="12700">
            <a:solidFill>
              <a:srgbClr val="0E1F4D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9774936" y="1783080"/>
            <a:ext cx="1188720" cy="384048"/>
          </a:xfrm>
          <a:prstGeom prst="roundRect">
            <a:avLst>
              <a:gd name="adj" fmla="val 50000"/>
            </a:avLst>
          </a:prstGeom>
          <a:solidFill>
            <a:srgbClr val="2A3F80"/>
          </a:solidFill>
          <a:ln w="12700">
            <a:solidFill>
              <a:srgbClr val="2A3F80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9774936" y="1783080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体入費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9729216" y="2377440"/>
            <a:ext cx="170078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E58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節約</a:t>
            </a:r>
            <a:endParaRPr lang="en-US" sz="3200" dirty="0"/>
          </a:p>
        </p:txBody>
      </p:sp>
      <p:sp>
        <p:nvSpPr>
          <p:cNvPr id="27" name="Text 25"/>
          <p:cNvSpPr txBox="1"/>
          <p:nvPr/>
        </p:nvSpPr>
        <p:spPr>
          <a:xfrm>
            <a:off x="9774936" y="3703320"/>
            <a:ext cx="160934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DCE4F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体入の前に会う人をしぼれるので、合わない人の体入費が減ります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1280160" y="6272784"/>
            <a:ext cx="8595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応募者がAIと話す時間は10〜15分です。AIは合否を決めません。採用はお店が決めます。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0936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878"/>
                </a:solidFill>
                <a:latin typeface="Yu Gothic"/>
                <a:ea typeface="Yu Gothic"/>
                <a:cs typeface="Yu Gothic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いまのやり方と、ポスポス</a:t>
            </a:r>
            <a:endParaRPr lang="en-US" sz="3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6424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3931920"/>
                <a:gridCol w="4572000"/>
              </a:tblGrid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4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4A5878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いまのやり方</a:t>
                      </a:r>
                      <a:endParaRPr lang="en-US" sz="16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4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ポスポス</a:t>
                      </a:r>
                      <a:endParaRPr lang="en-US" sz="16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4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57D6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3234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応募への返事</a:t>
                      </a:r>
                      <a:endParaRPr lang="en-US" sz="16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4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4A5878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営業のあとに折り返し</a:t>
                      </a:r>
                      <a:endParaRPr lang="en-US" sz="16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4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557D6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URLを1秒で送る</a:t>
                      </a:r>
                      <a:endParaRPr lang="en-US" sz="16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4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3234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面接の日程</a:t>
                      </a:r>
                      <a:endParaRPr lang="en-US" sz="16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4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4A5878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電話で何度もやりとり</a:t>
                      </a:r>
                      <a:endParaRPr lang="en-US" sz="16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4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557D6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いらない（応募者の都合で受ける）</a:t>
                      </a:r>
                      <a:endParaRPr lang="en-US" sz="16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4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3234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一次面接</a:t>
                      </a:r>
                      <a:endParaRPr lang="en-US" sz="16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4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4A5878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対面で30分</a:t>
                      </a:r>
                      <a:endParaRPr lang="en-US" sz="16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4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557D6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AIが受け持つ。お店は30秒〜1分</a:t>
                      </a:r>
                      <a:endParaRPr lang="en-US" sz="16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4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3234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ドタキャン</a:t>
                      </a:r>
                      <a:endParaRPr lang="en-US" sz="16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4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4A5878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待ちぼうけ</a:t>
                      </a:r>
                      <a:endParaRPr lang="en-US" sz="16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4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557D6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受けた人の結果だけ届く</a:t>
                      </a:r>
                      <a:endParaRPr lang="en-US" sz="16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4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3234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比べ方</a:t>
                      </a:r>
                      <a:endParaRPr lang="en-US" sz="16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4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4A5878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面接する人でばらつく</a:t>
                      </a:r>
                      <a:endParaRPr lang="en-US" sz="16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4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557D6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全員に同じ質問・録画と会話で比べる</a:t>
                      </a:r>
                      <a:endParaRPr lang="en-US" sz="16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4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0936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878"/>
                </a:solidFill>
                <a:latin typeface="Yu Gothic"/>
                <a:ea typeface="Yu Gothic"/>
                <a:cs typeface="Yu Gothic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しかも、お店がほしい人か会う前にわかる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391656" y="1499616"/>
            <a:ext cx="5230368" cy="3675888"/>
          </a:xfrm>
          <a:prstGeom prst="roundRect">
            <a:avLst>
              <a:gd name="adj" fmla="val 2488"/>
            </a:avLst>
          </a:prstGeom>
          <a:solidFill>
            <a:srgbClr val="FFFFFF"/>
          </a:solidFill>
          <a:ln w="12700">
            <a:solidFill>
              <a:srgbClr val="DCE4F2"/>
            </a:solidFill>
            <a:prstDash val="solid"/>
          </a:ln>
          <a:effectLst>
            <a:outerShdw sx="100000" sy="100000" kx="0" ky="0" algn="bl" rotWithShape="0" blurRad="127000" dist="50800" dir="5400000">
              <a:srgbClr val="13234A">
                <a:alpha val="15000"/>
              </a:srgbClr>
            </a:outerShdw>
          </a:effectLst>
        </p:spPr>
      </p:sp>
      <p:pic>
        <p:nvPicPr>
          <p:cNvPr id="4" name="Image 0" descr="/tmp/claude-0/-home-user-GACHICAREERAI/b3a26714-2895-56f0-b4c8-705422406677/scratchpad/deck/pos-ai-result-da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46520" y="1554480"/>
            <a:ext cx="5120640" cy="356616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463040"/>
            <a:ext cx="5486400" cy="1325880"/>
          </a:xfrm>
          <a:prstGeom prst="roundRect">
            <a:avLst>
              <a:gd name="adj" fmla="val 10345"/>
            </a:avLst>
          </a:prstGeom>
          <a:solidFill>
            <a:srgbClr val="F2F6FD"/>
          </a:solidFill>
          <a:ln w="12700">
            <a:solidFill>
              <a:srgbClr val="F2F6FD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22960" y="1719072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お店の基準で聞ける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286000"/>
            <a:ext cx="4983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ほしい人の条件に合わせた質問を10個まで足せます。「いつもの質問」に保存すれば毎回そのまま。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548640" y="2971800"/>
            <a:ext cx="5486400" cy="1325880"/>
          </a:xfrm>
          <a:prstGeom prst="roundRect">
            <a:avLst>
              <a:gd name="adj" fmla="val 10345"/>
            </a:avLst>
          </a:prstGeom>
          <a:solidFill>
            <a:srgbClr val="F2F6FD"/>
          </a:solidFill>
          <a:ln w="12700">
            <a:solidFill>
              <a:srgbClr val="F2F6FD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22960" y="3227832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全員に同じ質問で、比べやすい</a:t>
            </a:r>
            <a:endParaRPr lang="en-US" sz="1700" dirty="0"/>
          </a:p>
        </p:txBody>
      </p:sp>
      <p:sp>
        <p:nvSpPr>
          <p:cNvPr id="10" name="Text 7"/>
          <p:cNvSpPr txBox="1"/>
          <p:nvPr/>
        </p:nvSpPr>
        <p:spPr>
          <a:xfrm>
            <a:off x="822960" y="3794760"/>
            <a:ext cx="4983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職種の質問のあとに、お店の質問を全部聞きます。面接する人による聞きもれがありません。</a:t>
            </a:r>
            <a:endParaRPr lang="en-US" sz="1350" dirty="0"/>
          </a:p>
        </p:txBody>
      </p:sp>
      <p:sp>
        <p:nvSpPr>
          <p:cNvPr id="11" name="Shape 8"/>
          <p:cNvSpPr/>
          <p:nvPr/>
        </p:nvSpPr>
        <p:spPr>
          <a:xfrm>
            <a:off x="548640" y="4480560"/>
            <a:ext cx="5486400" cy="1325880"/>
          </a:xfrm>
          <a:prstGeom prst="roundRect">
            <a:avLst>
              <a:gd name="adj" fmla="val 10345"/>
            </a:avLst>
          </a:prstGeom>
          <a:solidFill>
            <a:srgbClr val="F2F6FD"/>
          </a:solidFill>
          <a:ln w="12700">
            <a:solidFill>
              <a:srgbClr val="F2F6FD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22960" y="4736592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答え方と雰囲気まで見える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822960" y="5303520"/>
            <a:ext cx="4983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入れる日と時間・気になった点のまとめ、写真・はじめの1分の録画・会話の全部。</a:t>
            </a:r>
            <a:endParaRPr lang="en-US" sz="1350" dirty="0"/>
          </a:p>
        </p:txBody>
      </p:sp>
      <p:sp>
        <p:nvSpPr>
          <p:cNvPr id="14" name="Text 11"/>
          <p:cNvSpPr txBox="1"/>
          <p:nvPr/>
        </p:nvSpPr>
        <p:spPr>
          <a:xfrm>
            <a:off x="6446520" y="525780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画面は見本です（お店・応募者は架空）</a:t>
            </a:r>
            <a:endParaRPr lang="en-US" sz="1000" dirty="0"/>
          </a:p>
        </p:txBody>
      </p:sp>
      <p:sp>
        <p:nvSpPr>
          <p:cNvPr id="15" name="Text 12"/>
          <p:cNvSpPr txBox="1"/>
          <p:nvPr/>
        </p:nvSpPr>
        <p:spPr>
          <a:xfrm>
            <a:off x="1280160" y="6272784"/>
            <a:ext cx="8595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AIは合否を決めません。届いた内容を見て、会うかどうか・採用するかどうかはお店が決めます。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0936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878"/>
                </a:solidFill>
                <a:latin typeface="Yu Gothic"/>
                <a:ea typeface="Yu Gothic"/>
                <a:cs typeface="Yu Gothic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そして、レジ・給料・シフトもひとつに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508760"/>
            <a:ext cx="3505200" cy="2377440"/>
          </a:xfrm>
          <a:prstGeom prst="roundRect">
            <a:avLst>
              <a:gd name="adj" fmla="val 5769"/>
            </a:avLst>
          </a:prstGeom>
          <a:solidFill>
            <a:srgbClr val="FFFFFF"/>
          </a:solidFill>
          <a:ln w="12700">
            <a:solidFill>
              <a:srgbClr val="DCE4F2"/>
            </a:solidFill>
            <a:prstDash val="solid"/>
          </a:ln>
          <a:effectLst>
            <a:outerShdw sx="100000" sy="100000" kx="0" ky="0" algn="bl" rotWithShape="0" blurRad="101600" dist="38100" dir="5400000">
              <a:srgbClr val="13234A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822960" y="1764792"/>
            <a:ext cx="457200" cy="457200"/>
          </a:xfrm>
          <a:prstGeom prst="ellipse">
            <a:avLst/>
          </a:prstGeom>
          <a:solidFill>
            <a:srgbClr val="1557D6"/>
          </a:solidFill>
          <a:ln w="12700">
            <a:solidFill>
              <a:srgbClr val="1557D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764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417320" y="1764792"/>
            <a:ext cx="2407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注文・会計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331720"/>
            <a:ext cx="30022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QR注文・厨房の画面・券売機・Square。夜はセット・延長・指名・付け回し・売掛まで。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328160" y="1508760"/>
            <a:ext cx="3505200" cy="2377440"/>
          </a:xfrm>
          <a:prstGeom prst="roundRect">
            <a:avLst>
              <a:gd name="adj" fmla="val 5769"/>
            </a:avLst>
          </a:prstGeom>
          <a:solidFill>
            <a:srgbClr val="FFFFFF"/>
          </a:solidFill>
          <a:ln w="12700">
            <a:solidFill>
              <a:srgbClr val="DCE4F2"/>
            </a:solidFill>
            <a:prstDash val="solid"/>
          </a:ln>
          <a:effectLst>
            <a:outerShdw sx="100000" sy="100000" kx="0" ky="0" algn="bl" rotWithShape="0" blurRad="101600" dist="38100" dir="5400000">
              <a:srgbClr val="13234A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602480" y="1764792"/>
            <a:ext cx="457200" cy="457200"/>
          </a:xfrm>
          <a:prstGeom prst="ellipse">
            <a:avLst/>
          </a:prstGeom>
          <a:solidFill>
            <a:srgbClr val="1557D6"/>
          </a:solidFill>
          <a:ln w="12700">
            <a:solidFill>
              <a:srgbClr val="1557D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602480" y="1764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5196840" y="1764792"/>
            <a:ext cx="2407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打刻・シフト・給料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4602480" y="2331720"/>
            <a:ext cx="30022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ICカードで打刻。深夜時給・交通費・前借り、夜はバック・歩合・源泉徴収まで自動で計算。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107680" y="1508760"/>
            <a:ext cx="3505200" cy="2377440"/>
          </a:xfrm>
          <a:prstGeom prst="roundRect">
            <a:avLst>
              <a:gd name="adj" fmla="val 5769"/>
            </a:avLst>
          </a:prstGeom>
          <a:solidFill>
            <a:srgbClr val="FFFFFF"/>
          </a:solidFill>
          <a:ln w="12700">
            <a:solidFill>
              <a:srgbClr val="DCE4F2"/>
            </a:solidFill>
            <a:prstDash val="solid"/>
          </a:ln>
          <a:effectLst>
            <a:outerShdw sx="100000" sy="100000" kx="0" ky="0" algn="bl" rotWithShape="0" blurRad="101600" dist="38100" dir="5400000">
              <a:srgbClr val="13234A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382000" y="1764792"/>
            <a:ext cx="457200" cy="457200"/>
          </a:xfrm>
          <a:prstGeom prst="ellipse">
            <a:avLst/>
          </a:prstGeom>
          <a:solidFill>
            <a:srgbClr val="1557D6"/>
          </a:solidFill>
          <a:ln w="12700">
            <a:solidFill>
              <a:srgbClr val="1557D6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82000" y="1764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8976360" y="1764792"/>
            <a:ext cx="2407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お金・日報・顧客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8382000" y="2331720"/>
            <a:ext cx="30022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利益・原価率・日報、顧客カルテ・ポイント・ボトル。会計ソフト用のCSVにも。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429768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557D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採用から給料まで、同じアプリで。いくつものアプリに同じことを入れる手間もなくなります。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0936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878"/>
                </a:solidFill>
                <a:latin typeface="Yu Gothic"/>
                <a:ea typeface="Yu Gothic"/>
                <a:cs typeface="Yu Gothic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注文から会計まで（昼のお店）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39496" y="1453896"/>
            <a:ext cx="5687568" cy="4146572"/>
          </a:xfrm>
          <a:prstGeom prst="roundRect">
            <a:avLst>
              <a:gd name="adj" fmla="val 2205"/>
            </a:avLst>
          </a:prstGeom>
          <a:solidFill>
            <a:srgbClr val="FFFFFF"/>
          </a:solidFill>
          <a:ln w="12700">
            <a:solidFill>
              <a:srgbClr val="DCE4F2"/>
            </a:solidFill>
            <a:prstDash val="solid"/>
          </a:ln>
          <a:effectLst>
            <a:outerShdw sx="100000" sy="100000" kx="0" ky="0" algn="bl" rotWithShape="0" blurRad="127000" dist="50800" dir="5400000">
              <a:srgbClr val="13234A">
                <a:alpha val="15000"/>
              </a:srgbClr>
            </a:outerShdw>
          </a:effectLst>
        </p:spPr>
      </p:sp>
      <p:pic>
        <p:nvPicPr>
          <p:cNvPr id="4" name="Image 0" descr="/tmp/claude-0/-home-user-GACHICAREERAI/b3a26714-2895-56f0-b4c8-705422406677/scratchpad/deck/m-flo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508760"/>
            <a:ext cx="5577840" cy="4036844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537960" y="1463040"/>
            <a:ext cx="5074920" cy="914400"/>
          </a:xfrm>
          <a:prstGeom prst="roundRect">
            <a:avLst>
              <a:gd name="adj" fmla="val 15000"/>
            </a:avLst>
          </a:prstGeom>
          <a:solidFill>
            <a:srgbClr val="F2F6FD"/>
          </a:solidFill>
          <a:ln w="12700">
            <a:solidFill>
              <a:srgbClr val="F2F6FD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6766560" y="1691640"/>
            <a:ext cx="457200" cy="457200"/>
          </a:xfrm>
          <a:prstGeom prst="ellipse">
            <a:avLst/>
          </a:prstGeom>
          <a:solidFill>
            <a:srgbClr val="1557D6"/>
          </a:solidFill>
          <a:ln w="12700">
            <a:solidFill>
              <a:srgbClr val="1557D6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766560" y="1691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7406640" y="155448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卓を開く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7406640" y="1920240"/>
            <a:ext cx="4069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配置図で卓を選んで人数を入れる。1階／2階のタブも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6537960" y="2542032"/>
            <a:ext cx="5074920" cy="914400"/>
          </a:xfrm>
          <a:prstGeom prst="roundRect">
            <a:avLst>
              <a:gd name="adj" fmla="val 15000"/>
            </a:avLst>
          </a:prstGeom>
          <a:solidFill>
            <a:srgbClr val="F2F6FD"/>
          </a:solidFill>
          <a:ln w="12700">
            <a:solidFill>
              <a:srgbClr val="F2F6FD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6766560" y="2770632"/>
            <a:ext cx="457200" cy="457200"/>
          </a:xfrm>
          <a:prstGeom prst="ellipse">
            <a:avLst/>
          </a:prstGeom>
          <a:solidFill>
            <a:srgbClr val="1557D6"/>
          </a:solidFill>
          <a:ln w="12700">
            <a:solidFill>
              <a:srgbClr val="1557D6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766560" y="27706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0"/>
          <p:cNvSpPr txBox="1"/>
          <p:nvPr/>
        </p:nvSpPr>
        <p:spPr>
          <a:xfrm>
            <a:off x="7406640" y="2633472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注文</a:t>
            </a:r>
            <a:endParaRPr lang="en-US" sz="1600" dirty="0"/>
          </a:p>
        </p:txBody>
      </p:sp>
      <p:sp>
        <p:nvSpPr>
          <p:cNvPr id="14" name="Text 11"/>
          <p:cNvSpPr txBox="1"/>
          <p:nvPr/>
        </p:nvSpPr>
        <p:spPr>
          <a:xfrm>
            <a:off x="7406640" y="2999232"/>
            <a:ext cx="4069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オプション・飲み放題／食べ放題・折半。注文は厨房の画面へ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6537960" y="3621024"/>
            <a:ext cx="5074920" cy="914400"/>
          </a:xfrm>
          <a:prstGeom prst="roundRect">
            <a:avLst>
              <a:gd name="adj" fmla="val 15000"/>
            </a:avLst>
          </a:prstGeom>
          <a:solidFill>
            <a:srgbClr val="F2F6FD"/>
          </a:solidFill>
          <a:ln w="12700">
            <a:solidFill>
              <a:srgbClr val="F2F6FD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6766560" y="3849624"/>
            <a:ext cx="457200" cy="457200"/>
          </a:xfrm>
          <a:prstGeom prst="ellipse">
            <a:avLst/>
          </a:prstGeom>
          <a:solidFill>
            <a:srgbClr val="1557D6"/>
          </a:solidFill>
          <a:ln w="12700">
            <a:solidFill>
              <a:srgbClr val="1557D6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766560" y="384962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7406640" y="3712464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お会計</a:t>
            </a:r>
            <a:endParaRPr lang="en-US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7406640" y="4078224"/>
            <a:ext cx="4069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分け払い・分けて会計・ポイント／クーポン・Square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6537960" y="4700016"/>
            <a:ext cx="5074920" cy="914400"/>
          </a:xfrm>
          <a:prstGeom prst="roundRect">
            <a:avLst>
              <a:gd name="adj" fmla="val 15000"/>
            </a:avLst>
          </a:prstGeom>
          <a:solidFill>
            <a:srgbClr val="F2F6FD"/>
          </a:solidFill>
          <a:ln w="12700">
            <a:solidFill>
              <a:srgbClr val="F2F6FD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6766560" y="4928616"/>
            <a:ext cx="457200" cy="457200"/>
          </a:xfrm>
          <a:prstGeom prst="ellipse">
            <a:avLst/>
          </a:prstGeom>
          <a:solidFill>
            <a:srgbClr val="1557D6"/>
          </a:solidFill>
          <a:ln w="12700">
            <a:solidFill>
              <a:srgbClr val="1557D6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766560" y="492861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7406640" y="4791456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レシート</a:t>
            </a:r>
            <a:endParaRPr lang="en-US" sz="1600" dirty="0"/>
          </a:p>
        </p:txBody>
      </p:sp>
      <p:sp>
        <p:nvSpPr>
          <p:cNvPr id="24" name="Text 21"/>
          <p:cNvSpPr txBox="1"/>
          <p:nvPr/>
        </p:nvSpPr>
        <p:spPr>
          <a:xfrm>
            <a:off x="7406640" y="5157216"/>
            <a:ext cx="4069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明細・レシート・領収書を印刷。会員番号のQRつき</a:t>
            </a:r>
            <a:endParaRPr lang="en-US" sz="1300" dirty="0"/>
          </a:p>
        </p:txBody>
      </p:sp>
      <p:sp>
        <p:nvSpPr>
          <p:cNvPr id="25" name="Text 22"/>
          <p:cNvSpPr txBox="1"/>
          <p:nvPr/>
        </p:nvSpPr>
        <p:spPr>
          <a:xfrm>
            <a:off x="1280160" y="6272784"/>
            <a:ext cx="8595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画面は見本です（店名・数字は架空）。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0936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878"/>
                </a:solidFill>
                <a:latin typeface="Yu Gothic"/>
                <a:ea typeface="Yu Gothic"/>
                <a:cs typeface="Yu Gothic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お会計でできること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39496" y="1453896"/>
            <a:ext cx="4590288" cy="4259008"/>
          </a:xfrm>
          <a:prstGeom prst="roundRect">
            <a:avLst>
              <a:gd name="adj" fmla="val 2147"/>
            </a:avLst>
          </a:prstGeom>
          <a:solidFill>
            <a:srgbClr val="FFFFFF"/>
          </a:solidFill>
          <a:ln w="12700">
            <a:solidFill>
              <a:srgbClr val="DCE4F2"/>
            </a:solidFill>
            <a:prstDash val="solid"/>
          </a:ln>
          <a:effectLst>
            <a:outerShdw sx="100000" sy="100000" kx="0" ky="0" algn="bl" rotWithShape="0" blurRad="127000" dist="50800" dir="5400000">
              <a:srgbClr val="13234A">
                <a:alpha val="15000"/>
              </a:srgbClr>
            </a:outerShdw>
          </a:effectLst>
        </p:spPr>
      </p:sp>
      <p:pic>
        <p:nvPicPr>
          <p:cNvPr id="4" name="Image 0" descr="/tmp/claude-0/-home-user-GACHICAREERAI/b3a26714-2895-56f0-b4c8-705422406677/scratchpad/deck/m-checkou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508760"/>
            <a:ext cx="4480560" cy="41492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0" y="1463040"/>
            <a:ext cx="2971800" cy="1325880"/>
          </a:xfrm>
          <a:prstGeom prst="roundRect">
            <a:avLst>
              <a:gd name="adj" fmla="val 10345"/>
            </a:avLst>
          </a:prstGeom>
          <a:solidFill>
            <a:srgbClr val="F2F6FD"/>
          </a:solidFill>
          <a:ln w="12700">
            <a:solidFill>
              <a:srgbClr val="F2F6FD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760720" y="1719072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分けて払う・分けて会計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5760720" y="228600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現金＋カードなど払い方を分けたり、1つの卓を分けて会計したり。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8641080" y="1463040"/>
            <a:ext cx="2971800" cy="1325880"/>
          </a:xfrm>
          <a:prstGeom prst="roundRect">
            <a:avLst>
              <a:gd name="adj" fmla="val 10345"/>
            </a:avLst>
          </a:prstGeom>
          <a:solidFill>
            <a:srgbClr val="F2F6FD"/>
          </a:solidFill>
          <a:ln w="12700">
            <a:solidFill>
              <a:srgbClr val="F2F6FD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915400" y="1719072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消費税・軽減税率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8915400" y="228600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店内／お持ち帰りを選んで、お持ち帰りは軽減税率で計算。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5486400" y="2971800"/>
            <a:ext cx="2971800" cy="1325880"/>
          </a:xfrm>
          <a:prstGeom prst="roundRect">
            <a:avLst>
              <a:gd name="adj" fmla="val 10345"/>
            </a:avLst>
          </a:prstGeom>
          <a:solidFill>
            <a:srgbClr val="F2F6FD"/>
          </a:solidFill>
          <a:ln w="12700">
            <a:solidFill>
              <a:srgbClr val="F2F6FD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5760720" y="3227832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深夜料金・サービス料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5760720" y="379476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22時からの注文に10%など。夜はサービス料も会計でそのまま。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8641080" y="2971800"/>
            <a:ext cx="2971800" cy="1325880"/>
          </a:xfrm>
          <a:prstGeom prst="roundRect">
            <a:avLst>
              <a:gd name="adj" fmla="val 10345"/>
            </a:avLst>
          </a:prstGeom>
          <a:solidFill>
            <a:srgbClr val="F2F6FD"/>
          </a:solidFill>
          <a:ln w="12700">
            <a:solidFill>
              <a:srgbClr val="F2F6FD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8915400" y="3227832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ポイント・クーポン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8915400" y="379476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会員証のQRでポイント。円引き・％引き・期間・回数のクーポン。</a:t>
            </a:r>
            <a:endParaRPr lang="en-US" sz="1250" dirty="0"/>
          </a:p>
        </p:txBody>
      </p:sp>
      <p:sp>
        <p:nvSpPr>
          <p:cNvPr id="17" name="Shape 14"/>
          <p:cNvSpPr/>
          <p:nvPr/>
        </p:nvSpPr>
        <p:spPr>
          <a:xfrm>
            <a:off x="5486400" y="4480560"/>
            <a:ext cx="2971800" cy="1325880"/>
          </a:xfrm>
          <a:prstGeom prst="roundRect">
            <a:avLst>
              <a:gd name="adj" fmla="val 10345"/>
            </a:avLst>
          </a:prstGeom>
          <a:solidFill>
            <a:srgbClr val="F2F6FD"/>
          </a:solidFill>
          <a:ln w="12700">
            <a:solidFill>
              <a:srgbClr val="F2F6FD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5760720" y="4736592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Square・売掛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5760720" y="530352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カード・交通系IC・QR決済はSquareで。夜は売掛（ツケ）も。</a:t>
            </a:r>
            <a:endParaRPr lang="en-US" sz="1250" dirty="0"/>
          </a:p>
        </p:txBody>
      </p:sp>
      <p:sp>
        <p:nvSpPr>
          <p:cNvPr id="20" name="Shape 17"/>
          <p:cNvSpPr/>
          <p:nvPr/>
        </p:nvSpPr>
        <p:spPr>
          <a:xfrm>
            <a:off x="8641080" y="4480560"/>
            <a:ext cx="2971800" cy="1325880"/>
          </a:xfrm>
          <a:prstGeom prst="roundRect">
            <a:avLst>
              <a:gd name="adj" fmla="val 10345"/>
            </a:avLst>
          </a:prstGeom>
          <a:solidFill>
            <a:srgbClr val="F2F6FD"/>
          </a:solidFill>
          <a:ln w="12700">
            <a:solidFill>
              <a:srgbClr val="F2F6FD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915400" y="4736592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伝票の直しは理由つき</a:t>
            </a:r>
            <a:endParaRPr lang="en-US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8915400" y="530352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直す・消すときは理由が必須。あとから見られます。</a:t>
            </a:r>
            <a:endParaRPr lang="en-US" sz="1250" dirty="0"/>
          </a:p>
        </p:txBody>
      </p:sp>
      <p:sp>
        <p:nvSpPr>
          <p:cNvPr id="23" name="Text 20"/>
          <p:cNvSpPr txBox="1"/>
          <p:nvPr/>
        </p:nvSpPr>
        <p:spPr>
          <a:xfrm>
            <a:off x="1280160" y="6272784"/>
            <a:ext cx="8595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画面は見本です（店名・数字は架空）。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0936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878"/>
                </a:solidFill>
                <a:latin typeface="Yu Gothic"/>
                <a:ea typeface="Yu Gothic"/>
                <a:cs typeface="Yu Gothic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夜のお店：伝票・延長・指名・付け回し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39496" y="1453896"/>
            <a:ext cx="3858768" cy="2962811"/>
          </a:xfrm>
          <a:prstGeom prst="roundRect">
            <a:avLst>
              <a:gd name="adj" fmla="val 3086"/>
            </a:avLst>
          </a:prstGeom>
          <a:solidFill>
            <a:srgbClr val="FFFFFF"/>
          </a:solidFill>
          <a:ln w="12700">
            <a:solidFill>
              <a:srgbClr val="DCE4F2"/>
            </a:solidFill>
            <a:prstDash val="solid"/>
          </a:ln>
          <a:effectLst>
            <a:outerShdw sx="100000" sy="100000" kx="0" ky="0" algn="bl" rotWithShape="0" blurRad="127000" dist="50800" dir="5400000">
              <a:srgbClr val="13234A">
                <a:alpha val="15000"/>
              </a:srgbClr>
            </a:outerShdw>
          </a:effectLst>
        </p:spPr>
      </p:sp>
      <p:pic>
        <p:nvPicPr>
          <p:cNvPr id="4" name="Image 0" descr="/tmp/claude-0/-home-user-GACHICAREERAI/b3a26714-2895-56f0-b4c8-705422406677/scratchpad/deck/m-sli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508760"/>
            <a:ext cx="3749040" cy="2853083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17136" y="1453896"/>
            <a:ext cx="3355848" cy="3152278"/>
          </a:xfrm>
          <a:prstGeom prst="roundRect">
            <a:avLst>
              <a:gd name="adj" fmla="val 2901"/>
            </a:avLst>
          </a:prstGeom>
          <a:solidFill>
            <a:srgbClr val="FFFFFF"/>
          </a:solidFill>
          <a:ln w="12700">
            <a:solidFill>
              <a:srgbClr val="DCE4F2"/>
            </a:solidFill>
            <a:prstDash val="solid"/>
          </a:ln>
          <a:effectLst>
            <a:outerShdw sx="100000" sy="100000" kx="0" ky="0" algn="bl" rotWithShape="0" blurRad="127000" dist="50800" dir="5400000">
              <a:srgbClr val="13234A">
                <a:alpha val="15000"/>
              </a:srgbClr>
            </a:outerShdw>
          </a:effectLst>
        </p:spPr>
      </p:sp>
      <p:pic>
        <p:nvPicPr>
          <p:cNvPr id="6" name="Image 1" descr="/tmp/claude-0/-home-user-GACHICAREERAI/b3a26714-2895-56f0-b4c8-705422406677/scratchpad/deck/m-tsukemawashi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1508760"/>
            <a:ext cx="3246120" cy="304255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8138160" y="1463040"/>
            <a:ext cx="347472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0000"/>
              </a:lnSpc>
              <a:spcAft>
                <a:spcPts val="700"/>
              </a:spcAft>
              <a:buSzPct val="100000"/>
              <a:buChar char="•"/>
            </a:pPr>
            <a:r>
              <a:rPr lang="en-US" sz="13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ホール・延長：</a:t>
            </a:r>
            <a:pPr indent="0" marL="0">
              <a:lnSpc>
                <a:spcPct val="110000"/>
              </a:lnSpc>
              <a:spcAft>
                <a:spcPts val="700"/>
              </a:spcAft>
              <a:buNone/>
            </a:pPr>
            <a:r>
              <a:rPr lang="en-US" sz="13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卓ごとに人数・残り時間・合計。もうすぐ終わる卓は赤、自動延長も</a:t>
            </a:r>
            <a:endParaRPr lang="en-US" sz="1300" dirty="0"/>
          </a:p>
          <a:p>
            <a:pPr marL="342900" indent="-342900">
              <a:lnSpc>
                <a:spcPct val="110000"/>
              </a:lnSpc>
              <a:spcAft>
                <a:spcPts val="700"/>
              </a:spcAft>
              <a:buSzPct val="100000"/>
              <a:buChar char="•"/>
            </a:pPr>
            <a:r>
              <a:rPr lang="en-US" sz="13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指名・同伴：</a:t>
            </a:r>
            <a:pPr indent="0" marL="0">
              <a:lnSpc>
                <a:spcPct val="110000"/>
              </a:lnSpc>
              <a:spcAft>
                <a:spcPts val="700"/>
              </a:spcAft>
              <a:buNone/>
            </a:pPr>
            <a:r>
              <a:rPr lang="en-US" sz="13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本指名・場内指名・同伴を記録。リクエストの売上は指名した子へ</a:t>
            </a:r>
            <a:endParaRPr lang="en-US" sz="1300" dirty="0"/>
          </a:p>
          <a:p>
            <a:pPr marL="342900" indent="-342900">
              <a:lnSpc>
                <a:spcPct val="110000"/>
              </a:lnSpc>
              <a:spcAft>
                <a:spcPts val="700"/>
              </a:spcAft>
              <a:buSzPct val="100000"/>
              <a:buChar char="•"/>
            </a:pPr>
            <a:r>
              <a:rPr lang="en-US" sz="13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付け回し：</a:t>
            </a:r>
            <a:pPr indent="0" marL="0">
              <a:lnSpc>
                <a:spcPct val="110000"/>
              </a:lnSpc>
              <a:spcAft>
                <a:spcPts val="700"/>
              </a:spcAft>
              <a:buNone/>
            </a:pPr>
            <a:r>
              <a:rPr lang="en-US" sz="13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卓→キャスト→付け方→何分を選ぶだけ。キャストのスマホに「今の席・あと何分」</a:t>
            </a:r>
            <a:endParaRPr lang="en-US" sz="1300" dirty="0"/>
          </a:p>
          <a:p>
            <a:pPr marL="342900" indent="-342900">
              <a:lnSpc>
                <a:spcPct val="110000"/>
              </a:lnSpc>
              <a:spcAft>
                <a:spcPts val="700"/>
              </a:spcAft>
              <a:buSzPct val="100000"/>
              <a:buChar char="•"/>
            </a:pPr>
            <a:r>
              <a:rPr lang="en-US" sz="13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伝票の内わけ：</a:t>
            </a:r>
            <a:pPr indent="0" marL="0">
              <a:lnSpc>
                <a:spcPct val="110000"/>
              </a:lnSpc>
              <a:spcAft>
                <a:spcPts val="700"/>
              </a:spcAft>
              <a:buNone/>
            </a:pPr>
            <a:r>
              <a:rPr lang="en-US" sz="13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お店・キャスト・利益の内わけ。直したときは理由つきで記録</a:t>
            </a:r>
            <a:endParaRPr lang="en-US" sz="1300" dirty="0"/>
          </a:p>
          <a:p>
            <a:pPr marL="342900" indent="-342900">
              <a:lnSpc>
                <a:spcPct val="110000"/>
              </a:lnSpc>
              <a:spcAft>
                <a:spcPts val="700"/>
              </a:spcAft>
              <a:buSzPct val="100000"/>
              <a:buChar char="•"/>
            </a:pPr>
            <a:r>
              <a:rPr lang="en-US" sz="13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売掛・ボトル：</a:t>
            </a:r>
            <a:pPr indent="0" marL="0">
              <a:lnSpc>
                <a:spcPct val="110000"/>
              </a:lnSpc>
              <a:spcAft>
                <a:spcPts val="700"/>
              </a:spcAft>
              <a:buNone/>
            </a:pPr>
            <a:r>
              <a:rPr lang="en-US" sz="13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ツケの一覧と回収、ボトルキープの残り・期限</a:t>
            </a:r>
            <a:endParaRPr lang="en-US" sz="1300" dirty="0"/>
          </a:p>
        </p:txBody>
      </p:sp>
      <p:sp>
        <p:nvSpPr>
          <p:cNvPr id="8" name="Text 4"/>
          <p:cNvSpPr txBox="1"/>
          <p:nvPr/>
        </p:nvSpPr>
        <p:spPr>
          <a:xfrm>
            <a:off x="1280160" y="6272784"/>
            <a:ext cx="8595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画面は見本です（店名・名前・数字は架空）。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0936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878"/>
                </a:solidFill>
                <a:latin typeface="Yu Gothic"/>
                <a:ea typeface="Yu Gothic"/>
                <a:cs typeface="Yu Gothic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打刻・シフト・給料を自動で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39496" y="1453896"/>
            <a:ext cx="6876288" cy="2261053"/>
          </a:xfrm>
          <a:prstGeom prst="roundRect">
            <a:avLst>
              <a:gd name="adj" fmla="val 4044"/>
            </a:avLst>
          </a:prstGeom>
          <a:solidFill>
            <a:srgbClr val="FFFFFF"/>
          </a:solidFill>
          <a:ln w="12700">
            <a:solidFill>
              <a:srgbClr val="DCE4F2"/>
            </a:solidFill>
            <a:prstDash val="solid"/>
          </a:ln>
          <a:effectLst>
            <a:outerShdw sx="100000" sy="100000" kx="0" ky="0" algn="bl" rotWithShape="0" blurRad="127000" dist="50800" dir="5400000">
              <a:srgbClr val="13234A">
                <a:alpha val="15000"/>
              </a:srgbClr>
            </a:outerShdw>
          </a:effectLst>
        </p:spPr>
      </p:sp>
      <p:pic>
        <p:nvPicPr>
          <p:cNvPr id="4" name="Image 0" descr="/tmp/claude-0/-home-user-GACHICAREERAI/b3a26714-2895-56f0-b4c8-705422406677/scratchpad/deck/m-salar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508760"/>
            <a:ext cx="6766560" cy="2151325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39496" y="3877056"/>
            <a:ext cx="2726478" cy="2029968"/>
          </a:xfrm>
          <a:prstGeom prst="roundRect">
            <a:avLst>
              <a:gd name="adj" fmla="val 4505"/>
            </a:avLst>
          </a:prstGeom>
          <a:solidFill>
            <a:srgbClr val="FFFFFF"/>
          </a:solidFill>
          <a:ln w="12700">
            <a:solidFill>
              <a:srgbClr val="DCE4F2"/>
            </a:solidFill>
            <a:prstDash val="solid"/>
          </a:ln>
          <a:effectLst>
            <a:outerShdw sx="100000" sy="100000" kx="0" ky="0" algn="bl" rotWithShape="0" blurRad="127000" dist="50800" dir="5400000">
              <a:srgbClr val="13234A">
                <a:alpha val="15000"/>
              </a:srgbClr>
            </a:outerShdw>
          </a:effectLst>
        </p:spPr>
      </p:sp>
      <p:pic>
        <p:nvPicPr>
          <p:cNvPr id="6" name="Image 1" descr="/tmp/claude-0/-home-user-GACHICAREERAI/b3a26714-2895-56f0-b4c8-705422406677/scratchpad/deck/m-bac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3931920"/>
            <a:ext cx="2616750" cy="192024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7680960" y="1463040"/>
            <a:ext cx="393192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0000"/>
              </a:lnSpc>
              <a:spcAft>
                <a:spcPts val="700"/>
              </a:spcAft>
              <a:buSzPct val="100000"/>
              <a:buChar char="•"/>
            </a:pPr>
            <a:r>
              <a:rPr lang="en-US" sz="13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打刻：</a:t>
            </a:r>
            <a:pPr indent="0" marL="0">
              <a:lnSpc>
                <a:spcPct val="110000"/>
              </a:lnSpc>
              <a:spcAft>
                <a:spcPts val="700"/>
              </a:spcAft>
              <a:buNone/>
            </a:pPr>
            <a:r>
              <a:rPr lang="en-US" sz="13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ICカード（Suicaなど）でタッチ。打刻の直し・修正申請の承認</a:t>
            </a:r>
            <a:endParaRPr lang="en-US" sz="1300" dirty="0"/>
          </a:p>
          <a:p>
            <a:pPr marL="342900" indent="-342900">
              <a:lnSpc>
                <a:spcPct val="110000"/>
              </a:lnSpc>
              <a:spcAft>
                <a:spcPts val="700"/>
              </a:spcAft>
              <a:buSzPct val="100000"/>
              <a:buChar char="•"/>
            </a:pPr>
            <a:r>
              <a:rPr lang="en-US" sz="13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シフト：</a:t>
            </a:r>
            <a:pPr indent="0" marL="0">
              <a:lnSpc>
                <a:spcPct val="110000"/>
              </a:lnSpc>
              <a:spcAft>
                <a:spcPts val="700"/>
              </a:spcAft>
              <a:buNone/>
            </a:pPr>
            <a:r>
              <a:rPr lang="en-US" sz="13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スタッフがスマホで希望を出す。締め切り・決めたシフト・臨時休業</a:t>
            </a:r>
            <a:endParaRPr lang="en-US" sz="1300" dirty="0"/>
          </a:p>
          <a:p>
            <a:pPr marL="342900" indent="-342900">
              <a:lnSpc>
                <a:spcPct val="110000"/>
              </a:lnSpc>
              <a:spcAft>
                <a:spcPts val="700"/>
              </a:spcAft>
              <a:buSzPct val="100000"/>
              <a:buChar char="•"/>
            </a:pPr>
            <a:r>
              <a:rPr lang="en-US" sz="13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給料：</a:t>
            </a:r>
            <a:pPr indent="0" marL="0">
              <a:lnSpc>
                <a:spcPct val="110000"/>
              </a:lnSpc>
              <a:spcAft>
                <a:spcPts val="700"/>
              </a:spcAft>
              <a:buNone/>
            </a:pPr>
            <a:r>
              <a:rPr lang="en-US" sz="13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日払い・週払い・月払い。時給・手当・控除、深夜時給・交通費・前借りの差し引き</a:t>
            </a:r>
            <a:endParaRPr lang="en-US" sz="1300" dirty="0"/>
          </a:p>
          <a:p>
            <a:pPr marL="342900" indent="-342900">
              <a:lnSpc>
                <a:spcPct val="110000"/>
              </a:lnSpc>
              <a:spcAft>
                <a:spcPts val="700"/>
              </a:spcAft>
              <a:buSzPct val="100000"/>
              <a:buChar char="•"/>
            </a:pPr>
            <a:r>
              <a:rPr lang="en-US" sz="13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夜のお店：</a:t>
            </a:r>
            <a:pPr indent="0" marL="0">
              <a:lnSpc>
                <a:spcPct val="110000"/>
              </a:lnSpc>
              <a:spcAft>
                <a:spcPts val="700"/>
              </a:spcAft>
              <a:buNone/>
            </a:pPr>
            <a:r>
              <a:rPr lang="en-US" sz="13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商品ごとのバック、売上や指名で変わる時給・歩合、送りの手当、源泉徴収</a:t>
            </a:r>
            <a:endParaRPr lang="en-US" sz="1300" dirty="0"/>
          </a:p>
          <a:p>
            <a:pPr marL="342900" indent="-342900">
              <a:lnSpc>
                <a:spcPct val="110000"/>
              </a:lnSpc>
              <a:spcAft>
                <a:spcPts val="700"/>
              </a:spcAft>
              <a:buSzPct val="100000"/>
              <a:buChar char="•"/>
            </a:pPr>
            <a:r>
              <a:rPr lang="en-US" sz="13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決めたあとも安心：</a:t>
            </a:r>
            <a:pPr indent="0" marL="0">
              <a:lnSpc>
                <a:spcPct val="110000"/>
              </a:lnSpc>
              <a:spcAft>
                <a:spcPts val="700"/>
              </a:spcAft>
              <a:buNone/>
            </a:pPr>
            <a:r>
              <a:rPr lang="en-US" sz="13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決めたあとに打刻や伝票を直すと「決めた後に変更あり」とお知らせ。Excel出力も</a:t>
            </a:r>
            <a:endParaRPr lang="en-US" sz="1300" dirty="0"/>
          </a:p>
        </p:txBody>
      </p:sp>
      <p:sp>
        <p:nvSpPr>
          <p:cNvPr id="8" name="Text 4"/>
          <p:cNvSpPr txBox="1"/>
          <p:nvPr/>
        </p:nvSpPr>
        <p:spPr>
          <a:xfrm>
            <a:off x="1280160" y="6272784"/>
            <a:ext cx="8595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画面は見本です（名前・数字は架空）。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0936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878"/>
                </a:solidFill>
                <a:latin typeface="Yu Gothic"/>
                <a:ea typeface="Yu Gothic"/>
                <a:cs typeface="Yu Gothic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お金・日報・在庫・顧客もひとつに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1472184" y="1408176"/>
            <a:ext cx="9253728" cy="2942380"/>
          </a:xfrm>
          <a:prstGeom prst="roundRect">
            <a:avLst>
              <a:gd name="adj" fmla="val 3108"/>
            </a:avLst>
          </a:prstGeom>
          <a:solidFill>
            <a:srgbClr val="FFFFFF"/>
          </a:solidFill>
          <a:ln w="12700">
            <a:solidFill>
              <a:srgbClr val="DCE4F2"/>
            </a:solidFill>
            <a:prstDash val="solid"/>
          </a:ln>
          <a:effectLst>
            <a:outerShdw sx="100000" sy="100000" kx="0" ky="0" algn="bl" rotWithShape="0" blurRad="127000" dist="50800" dir="5400000">
              <a:srgbClr val="13234A">
                <a:alpha val="15000"/>
              </a:srgbClr>
            </a:outerShdw>
          </a:effectLst>
        </p:spPr>
      </p:sp>
      <p:pic>
        <p:nvPicPr>
          <p:cNvPr id="4" name="Image 0" descr="/tmp/claude-0/-home-user-GACHICAREERAI/b3a26714-2895-56f0-b4c8-705422406677/scratchpad/deck/m-mone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27048" y="1463040"/>
            <a:ext cx="9144000" cy="2832652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4572000"/>
            <a:ext cx="2628900" cy="1463040"/>
          </a:xfrm>
          <a:prstGeom prst="roundRect">
            <a:avLst>
              <a:gd name="adj" fmla="val 9375"/>
            </a:avLst>
          </a:prstGeom>
          <a:solidFill>
            <a:srgbClr val="F2F6FD"/>
          </a:solidFill>
          <a:ln w="12700">
            <a:solidFill>
              <a:srgbClr val="F2F6FD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22960" y="4828032"/>
            <a:ext cx="21259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お金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5394960"/>
            <a:ext cx="21259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利益（売上−手数料−人件費−仕入れ−経費）・原価率・レジの現金・明細。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3360420" y="4572000"/>
            <a:ext cx="2628900" cy="1463040"/>
          </a:xfrm>
          <a:prstGeom prst="roundRect">
            <a:avLst>
              <a:gd name="adj" fmla="val 9375"/>
            </a:avLst>
          </a:prstGeom>
          <a:solidFill>
            <a:srgbClr val="F2F6FD"/>
          </a:solidFill>
          <a:ln w="12700">
            <a:solidFill>
              <a:srgbClr val="F2F6FD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634740" y="4828032"/>
            <a:ext cx="21259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日報・月報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3634740" y="5394960"/>
            <a:ext cx="21259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売上・客数・客単価・支払い方法ごと・人件費・よく出た商品。印刷も。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6172200" y="4572000"/>
            <a:ext cx="2628900" cy="1463040"/>
          </a:xfrm>
          <a:prstGeom prst="roundRect">
            <a:avLst>
              <a:gd name="adj" fmla="val 9375"/>
            </a:avLst>
          </a:prstGeom>
          <a:solidFill>
            <a:srgbClr val="F2F6FD"/>
          </a:solidFill>
          <a:ln w="12700">
            <a:solidFill>
              <a:srgbClr val="F2F6FD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446520" y="4828032"/>
            <a:ext cx="21259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出数・在庫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6446520" y="5394960"/>
            <a:ext cx="21259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よく出たメニュー、在庫・入荷・原価。氷・おしぼりなども。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8983980" y="4572000"/>
            <a:ext cx="2628900" cy="1463040"/>
          </a:xfrm>
          <a:prstGeom prst="roundRect">
            <a:avLst>
              <a:gd name="adj" fmla="val 9375"/>
            </a:avLst>
          </a:prstGeom>
          <a:solidFill>
            <a:srgbClr val="F2F6FD"/>
          </a:solidFill>
          <a:ln w="12700">
            <a:solidFill>
              <a:srgbClr val="F2F6FD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9258300" y="4828032"/>
            <a:ext cx="21259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顧客・会計ソフトへ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9258300" y="5394960"/>
            <a:ext cx="21259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顧客カルテ・来店の記録。freee・マネーフォワード・弥生用のCSV。</a:t>
            </a:r>
            <a:endParaRPr lang="en-US" sz="1250" dirty="0"/>
          </a:p>
        </p:txBody>
      </p:sp>
      <p:sp>
        <p:nvSpPr>
          <p:cNvPr id="17" name="Text 14"/>
          <p:cNvSpPr txBox="1"/>
          <p:nvPr/>
        </p:nvSpPr>
        <p:spPr>
          <a:xfrm>
            <a:off x="1280160" y="6272784"/>
            <a:ext cx="8595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画面は見本です（店名・数字は架空）。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0936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878"/>
                </a:solidFill>
                <a:latin typeface="Yu Gothic"/>
                <a:ea typeface="Yu Gothic"/>
                <a:cs typeface="Yu Gothic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スタッフ・キャストは自分のスマホで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768096" y="1408176"/>
            <a:ext cx="2304288" cy="4375953"/>
          </a:xfrm>
          <a:prstGeom prst="roundRect">
            <a:avLst>
              <a:gd name="adj" fmla="val 3968"/>
            </a:avLst>
          </a:prstGeom>
          <a:solidFill>
            <a:srgbClr val="FFFFFF"/>
          </a:solidFill>
          <a:ln w="12700">
            <a:solidFill>
              <a:srgbClr val="DCE4F2"/>
            </a:solidFill>
            <a:prstDash val="solid"/>
          </a:ln>
          <a:effectLst>
            <a:outerShdw sx="100000" sy="100000" kx="0" ky="0" algn="bl" rotWithShape="0" blurRad="127000" dist="50800" dir="5400000">
              <a:srgbClr val="13234A">
                <a:alpha val="15000"/>
              </a:srgbClr>
            </a:outerShdw>
          </a:effectLst>
        </p:spPr>
      </p:sp>
      <p:pic>
        <p:nvPicPr>
          <p:cNvPr id="4" name="Image 0" descr="/tmp/claude-0/-home-user-GACHICAREERAI/b3a26714-2895-56f0-b4c8-705422406677/scratchpad/deck/m-staff-hom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463040"/>
            <a:ext cx="2194560" cy="4266225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3328416" y="1408176"/>
            <a:ext cx="2304288" cy="4375953"/>
          </a:xfrm>
          <a:prstGeom prst="roundRect">
            <a:avLst>
              <a:gd name="adj" fmla="val 3968"/>
            </a:avLst>
          </a:prstGeom>
          <a:solidFill>
            <a:srgbClr val="FFFFFF"/>
          </a:solidFill>
          <a:ln w="12700">
            <a:solidFill>
              <a:srgbClr val="DCE4F2"/>
            </a:solidFill>
            <a:prstDash val="solid"/>
          </a:ln>
          <a:effectLst>
            <a:outerShdw sx="100000" sy="100000" kx="0" ky="0" algn="bl" rotWithShape="0" blurRad="127000" dist="50800" dir="5400000">
              <a:srgbClr val="13234A">
                <a:alpha val="15000"/>
              </a:srgbClr>
            </a:outerShdw>
          </a:effectLst>
        </p:spPr>
      </p:sp>
      <p:pic>
        <p:nvPicPr>
          <p:cNvPr id="6" name="Image 1" descr="/tmp/claude-0/-home-user-GACHICAREERAI/b3a26714-2895-56f0-b4c8-705422406677/scratchpad/deck/m-cast-hom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83280" y="1463040"/>
            <a:ext cx="2194560" cy="4266225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6217920" y="1463040"/>
            <a:ext cx="2583180" cy="1874520"/>
          </a:xfrm>
          <a:prstGeom prst="roundRect">
            <a:avLst>
              <a:gd name="adj" fmla="val 7317"/>
            </a:avLst>
          </a:prstGeom>
          <a:solidFill>
            <a:srgbClr val="F2F6FD"/>
          </a:solidFill>
          <a:ln w="12700">
            <a:solidFill>
              <a:srgbClr val="F2F6FD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6492240" y="1719072"/>
            <a:ext cx="20802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シフト</a:t>
            </a:r>
            <a:endParaRPr lang="en-US" sz="1550" dirty="0"/>
          </a:p>
        </p:txBody>
      </p:sp>
      <p:sp>
        <p:nvSpPr>
          <p:cNvPr id="9" name="Text 5"/>
          <p:cNvSpPr txBox="1"/>
          <p:nvPr/>
        </p:nvSpPr>
        <p:spPr>
          <a:xfrm>
            <a:off x="6492240" y="2286000"/>
            <a:ext cx="20802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希望を出す・決まったシフトを見る。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9029700" y="1463040"/>
            <a:ext cx="2583180" cy="1874520"/>
          </a:xfrm>
          <a:prstGeom prst="roundRect">
            <a:avLst>
              <a:gd name="adj" fmla="val 7317"/>
            </a:avLst>
          </a:prstGeom>
          <a:solidFill>
            <a:srgbClr val="F2F6FD"/>
          </a:solidFill>
          <a:ln w="12700">
            <a:solidFill>
              <a:srgbClr val="F2F6FD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9304020" y="1719072"/>
            <a:ext cx="20802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給料・明細</a:t>
            </a:r>
            <a:endParaRPr lang="en-US" sz="1550" dirty="0"/>
          </a:p>
        </p:txBody>
      </p:sp>
      <p:sp>
        <p:nvSpPr>
          <p:cNvPr id="12" name="Text 8"/>
          <p:cNvSpPr txBox="1"/>
          <p:nvPr/>
        </p:nvSpPr>
        <p:spPr>
          <a:xfrm>
            <a:off x="9304020" y="2286000"/>
            <a:ext cx="20802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いくらもらえるか、日別の明細。前借りも。</a:t>
            </a:r>
            <a:endParaRPr lang="en-US" sz="1300" dirty="0"/>
          </a:p>
        </p:txBody>
      </p:sp>
      <p:sp>
        <p:nvSpPr>
          <p:cNvPr id="13" name="Shape 9"/>
          <p:cNvSpPr/>
          <p:nvPr/>
        </p:nvSpPr>
        <p:spPr>
          <a:xfrm>
            <a:off x="6217920" y="3566160"/>
            <a:ext cx="2583180" cy="1874520"/>
          </a:xfrm>
          <a:prstGeom prst="roundRect">
            <a:avLst>
              <a:gd name="adj" fmla="val 7317"/>
            </a:avLst>
          </a:prstGeom>
          <a:solidFill>
            <a:srgbClr val="F2F6FD"/>
          </a:solidFill>
          <a:ln w="12700">
            <a:solidFill>
              <a:srgbClr val="F2F6FD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6492240" y="3822192"/>
            <a:ext cx="20802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チャット・通知</a:t>
            </a:r>
            <a:endParaRPr lang="en-US" sz="1550" dirty="0"/>
          </a:p>
        </p:txBody>
      </p:sp>
      <p:sp>
        <p:nvSpPr>
          <p:cNvPr id="15" name="Text 11"/>
          <p:cNvSpPr txBox="1"/>
          <p:nvPr/>
        </p:nvSpPr>
        <p:spPr>
          <a:xfrm>
            <a:off x="6492240" y="4389120"/>
            <a:ext cx="20802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1対1・グループ・お知らせ。写真・既読。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9029700" y="3566160"/>
            <a:ext cx="2583180" cy="1874520"/>
          </a:xfrm>
          <a:prstGeom prst="roundRect">
            <a:avLst>
              <a:gd name="adj" fmla="val 7317"/>
            </a:avLst>
          </a:prstGeom>
          <a:solidFill>
            <a:srgbClr val="F2F6FD"/>
          </a:solidFill>
          <a:ln w="12700">
            <a:solidFill>
              <a:srgbClr val="F2F6FD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9304020" y="3822192"/>
            <a:ext cx="20802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夜は成績・お客さま</a:t>
            </a:r>
            <a:endParaRPr lang="en-US" sz="1550" dirty="0"/>
          </a:p>
        </p:txBody>
      </p:sp>
      <p:sp>
        <p:nvSpPr>
          <p:cNvPr id="18" name="Text 14"/>
          <p:cNvSpPr txBox="1"/>
          <p:nvPr/>
        </p:nvSpPr>
        <p:spPr>
          <a:xfrm>
            <a:off x="9304020" y="4389120"/>
            <a:ext cx="20802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成績・ランキング、自分のお客さま、来客予定、確定申告の案内。</a:t>
            </a:r>
            <a:endParaRPr lang="en-US" sz="1300" dirty="0"/>
          </a:p>
        </p:txBody>
      </p:sp>
      <p:sp>
        <p:nvSpPr>
          <p:cNvPr id="19" name="Text 15"/>
          <p:cNvSpPr txBox="1"/>
          <p:nvPr/>
        </p:nvSpPr>
        <p:spPr>
          <a:xfrm>
            <a:off x="6217920" y="5486400"/>
            <a:ext cx="5394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557D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「給料いくら？」「シフトどうなった？」の問い合わせが減ります。</a:t>
            </a:r>
            <a:endParaRPr lang="en-US" sz="1400" dirty="0"/>
          </a:p>
        </p:txBody>
      </p:sp>
      <p:sp>
        <p:nvSpPr>
          <p:cNvPr id="20" name="Text 16"/>
          <p:cNvSpPr txBox="1"/>
          <p:nvPr/>
        </p:nvSpPr>
        <p:spPr>
          <a:xfrm>
            <a:off x="1280160" y="6272784"/>
            <a:ext cx="8595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画面は見本です（名前・数字は架空）。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0936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878"/>
                </a:solidFill>
                <a:latin typeface="Yu Gothic"/>
                <a:ea typeface="Yu Gothic"/>
                <a:cs typeface="Yu Gothic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AI面接は、スタンダードの料金にふくまれています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3520440" cy="4343400"/>
          </a:xfrm>
          <a:prstGeom prst="roundRect">
            <a:avLst>
              <a:gd name="adj" fmla="val 3896"/>
            </a:avLst>
          </a:prstGeom>
          <a:solidFill>
            <a:srgbClr val="F2F6FD"/>
          </a:solidFill>
          <a:ln w="12700">
            <a:solidFill>
              <a:srgbClr val="F2F6FD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737360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ライトプラン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194560"/>
            <a:ext cx="2971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お会計と売上を、まず楽に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560320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月額 </a:t>
            </a:r>
            <a:pPr indent="0" marL="0">
              <a:buNone/>
            </a:pPr>
            <a:r>
              <a:rPr lang="en-US" sz="24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11,000円</a:t>
            </a:r>
            <a:pPr indent="0" marL="0">
              <a:buNone/>
            </a:pPr>
            <a:r>
              <a:rPr lang="en-US" sz="1100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（税込）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794760"/>
            <a:ext cx="29718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注文・会計・伝票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QR注文・厨房の画面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ポイント・会員証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Square・レシート印刷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325112" y="1417320"/>
            <a:ext cx="3520440" cy="4343400"/>
          </a:xfrm>
          <a:prstGeom prst="roundRect">
            <a:avLst>
              <a:gd name="adj" fmla="val 3896"/>
            </a:avLst>
          </a:prstGeom>
          <a:solidFill>
            <a:srgbClr val="FFFFFF"/>
          </a:solidFill>
          <a:ln w="31750">
            <a:solidFill>
              <a:srgbClr val="1557D6"/>
            </a:solidFill>
            <a:prstDash val="solid"/>
          </a:ln>
          <a:effectLst>
            <a:outerShdw sx="100000" sy="100000" kx="0" ky="0" algn="bl" rotWithShape="0" blurRad="152400" dist="50800" dir="5400000">
              <a:srgbClr val="1557D6">
                <a:alpha val="2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599432" y="1234440"/>
            <a:ext cx="2377440" cy="384048"/>
          </a:xfrm>
          <a:prstGeom prst="roundRect">
            <a:avLst>
              <a:gd name="adj" fmla="val 50000"/>
            </a:avLst>
          </a:prstGeom>
          <a:solidFill>
            <a:srgbClr val="1557D6"/>
          </a:solidFill>
          <a:ln w="12700">
            <a:solidFill>
              <a:srgbClr val="1557D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99432" y="123444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キャンペーン価格・おすすめ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4599432" y="1737360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スタンダードプラン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4599432" y="2194560"/>
            <a:ext cx="2971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お店の運営を、まるごと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4599432" y="2514600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月額（税込）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4599432" y="2743200"/>
            <a:ext cx="2971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557D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昼 22,000円</a:t>
            </a:r>
            <a:endParaRPr lang="en-US" sz="1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557D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夜 33,000円</a:t>
            </a:r>
            <a:endParaRPr lang="en-US" sz="1900" dirty="0"/>
          </a:p>
        </p:txBody>
      </p:sp>
      <p:sp>
        <p:nvSpPr>
          <p:cNvPr id="15" name="Text 13"/>
          <p:cNvSpPr txBox="1"/>
          <p:nvPr/>
        </p:nvSpPr>
        <p:spPr>
          <a:xfrm>
            <a:off x="4599432" y="3429000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通常 昼33,000円／夜40,000円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599432" y="3794760"/>
            <a:ext cx="29718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ライトの機能すべて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打刻・シフト・給料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顧客・クーポン・お金・日報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b="1" dirty="0">
                <a:solidFill>
                  <a:srgbClr val="1557D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AI面接（追加料金なし）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8101584" y="1417320"/>
            <a:ext cx="3520440" cy="4343400"/>
          </a:xfrm>
          <a:prstGeom prst="roundRect">
            <a:avLst>
              <a:gd name="adj" fmla="val 3896"/>
            </a:avLst>
          </a:prstGeom>
          <a:solidFill>
            <a:srgbClr val="F2F6FD"/>
          </a:solidFill>
          <a:ln w="12700">
            <a:solidFill>
              <a:srgbClr val="F2F6FD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375904" y="1737360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個別プラン</a:t>
            </a:r>
            <a:endParaRPr lang="en-US" sz="2000" dirty="0"/>
          </a:p>
        </p:txBody>
      </p:sp>
      <p:sp>
        <p:nvSpPr>
          <p:cNvPr id="19" name="Text 17"/>
          <p:cNvSpPr txBox="1"/>
          <p:nvPr/>
        </p:nvSpPr>
        <p:spPr>
          <a:xfrm>
            <a:off x="8375904" y="2194560"/>
            <a:ext cx="2971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お店のやり方に合わせて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8375904" y="2560320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月額 </a:t>
            </a:r>
            <a:pPr indent="0" marL="0">
              <a:buNone/>
            </a:pPr>
            <a:r>
              <a:rPr lang="en-US" sz="24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55,000円〜</a:t>
            </a:r>
            <a:pPr indent="0" marL="0">
              <a:buNone/>
            </a:pPr>
            <a:r>
              <a:rPr lang="en-US" sz="1100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（税込）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8375904" y="3794760"/>
            <a:ext cx="29718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ライト＋スタンダードの機能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お店独自の給料の計算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データの取り込み・帳票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b="1" dirty="0">
                <a:solidFill>
                  <a:srgbClr val="1557D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AI面接（追加料金なし）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1280160" y="6272784"/>
            <a:ext cx="8595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料金は1店舗ごと・初期費用0円・1か月無料。キャンペーン期間中のお申し込みは、契約が続くかぎりキャンペーン価格のまま（予告なく終了する場合があります）。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0936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878"/>
                </a:solidFill>
                <a:latin typeface="Yu Gothic"/>
                <a:ea typeface="Yu Gothic"/>
                <a:cs typeface="Yu Gothic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いま始めると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508760"/>
            <a:ext cx="5394960" cy="1965960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2700">
            <a:solidFill>
              <a:srgbClr val="DCE4F2"/>
            </a:solidFill>
            <a:prstDash val="solid"/>
          </a:ln>
          <a:effectLst>
            <a:outerShdw sx="100000" sy="100000" kx="0" ky="0" algn="bl" rotWithShape="0" blurRad="101600" dist="38100" dir="5400000">
              <a:srgbClr val="13234A">
                <a:alpha val="12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822960" y="1764792"/>
            <a:ext cx="4892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ずっとキャンペーン価格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331720"/>
            <a:ext cx="4892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キャンペーン期間中のお申し込みは、契約が続くかぎりキャンペーン価格のまま（予告なく終了する場合があります）。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217920" y="1508760"/>
            <a:ext cx="5394960" cy="1965960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2700">
            <a:solidFill>
              <a:srgbClr val="DCE4F2"/>
            </a:solidFill>
            <a:prstDash val="solid"/>
          </a:ln>
          <a:effectLst>
            <a:outerShdw sx="100000" sy="100000" kx="0" ky="0" algn="bl" rotWithShape="0" blurRad="101600" dist="38100" dir="5400000">
              <a:srgbClr val="13234A">
                <a:alpha val="12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6492240" y="1764792"/>
            <a:ext cx="4892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1か月無料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6492240" y="2331720"/>
            <a:ext cx="4892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カードを登録しなければ、お試しのあと勝手に請求されることはありません。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48640" y="3749040"/>
            <a:ext cx="5394960" cy="1965960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2700">
            <a:solidFill>
              <a:srgbClr val="DCE4F2"/>
            </a:solidFill>
            <a:prstDash val="solid"/>
          </a:ln>
          <a:effectLst>
            <a:outerShdw sx="100000" sy="100000" kx="0" ky="0" algn="bl" rotWithShape="0" blurRad="101600" dist="38100" dir="5400000">
              <a:srgbClr val="13234A">
                <a:alpha val="12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822960" y="4005072"/>
            <a:ext cx="4892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初期費用0円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822960" y="4572000"/>
            <a:ext cx="4892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ホームページからのお申し込みは、商品・写真・スタッフの登録代行も無料。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217920" y="3749040"/>
            <a:ext cx="5394960" cy="1965960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2700">
            <a:solidFill>
              <a:srgbClr val="DCE4F2"/>
            </a:solidFill>
            <a:prstDash val="solid"/>
          </a:ln>
          <a:effectLst>
            <a:outerShdw sx="100000" sy="100000" kx="0" ky="0" algn="bl" rotWithShape="0" blurRad="101600" dist="38100" dir="5400000">
              <a:srgbClr val="13234A">
                <a:alpha val="12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6492240" y="4005072"/>
            <a:ext cx="4892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AI面接は追加料金なし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6492240" y="4572000"/>
            <a:ext cx="4892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スタンダードプランなら、次の応募からすぐAI面接を使えます。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0936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878"/>
                </a:solidFill>
                <a:latin typeface="Yu Gothic"/>
                <a:ea typeface="Yu Gothic"/>
                <a:cs typeface="Yu Gothic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731520"/>
            <a:ext cx="10698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まず1か月、次の応募者にURLを送ってみませんか？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731520" y="2103120"/>
            <a:ext cx="3383280" cy="2103120"/>
          </a:xfrm>
          <a:prstGeom prst="roundRect">
            <a:avLst>
              <a:gd name="adj" fmla="val 6522"/>
            </a:avLst>
          </a:prstGeom>
          <a:solidFill>
            <a:srgbClr val="1E2F66"/>
          </a:solidFill>
          <a:ln w="12700">
            <a:solidFill>
              <a:srgbClr val="2E448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05840" y="2377440"/>
            <a:ext cx="457200" cy="457200"/>
          </a:xfrm>
          <a:prstGeom prst="ellipse">
            <a:avLst/>
          </a:prstGeom>
          <a:solidFill>
            <a:srgbClr val="FFB547"/>
          </a:solidFill>
          <a:ln w="12700">
            <a:solidFill>
              <a:srgbClr val="FFB54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05840" y="2377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600200" y="237744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今日、お申し込み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1005840" y="3017520"/>
            <a:ext cx="2834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C9D6F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お電話かフォームから。お店の種類と店舗数だけでOK。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389120" y="2103120"/>
            <a:ext cx="3383280" cy="2103120"/>
          </a:xfrm>
          <a:prstGeom prst="roundRect">
            <a:avLst>
              <a:gd name="adj" fmla="val 6522"/>
            </a:avLst>
          </a:prstGeom>
          <a:solidFill>
            <a:srgbClr val="1E2F66"/>
          </a:solidFill>
          <a:ln w="12700">
            <a:solidFill>
              <a:srgbClr val="2E448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663440" y="2377440"/>
            <a:ext cx="457200" cy="457200"/>
          </a:xfrm>
          <a:prstGeom prst="ellipse">
            <a:avLst/>
          </a:prstGeom>
          <a:solidFill>
            <a:srgbClr val="FFB547"/>
          </a:solidFill>
          <a:ln w="12700">
            <a:solidFill>
              <a:srgbClr val="FFB54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663440" y="2377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5257800" y="237744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登録はおまかせ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4663440" y="3017520"/>
            <a:ext cx="2834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C9D6F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ホームページからのお申し込みは登録代行が無料。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046720" y="2103120"/>
            <a:ext cx="3383280" cy="2103120"/>
          </a:xfrm>
          <a:prstGeom prst="roundRect">
            <a:avLst>
              <a:gd name="adj" fmla="val 6522"/>
            </a:avLst>
          </a:prstGeom>
          <a:solidFill>
            <a:srgbClr val="1E2F66"/>
          </a:solidFill>
          <a:ln w="12700">
            <a:solidFill>
              <a:srgbClr val="2E448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321040" y="2377440"/>
            <a:ext cx="457200" cy="457200"/>
          </a:xfrm>
          <a:prstGeom prst="ellipse">
            <a:avLst/>
          </a:prstGeom>
          <a:solidFill>
            <a:srgbClr val="FFB547"/>
          </a:solidFill>
          <a:ln w="12700">
            <a:solidFill>
              <a:srgbClr val="FFB547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21040" y="2377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8915400" y="237744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次の応募でAI面接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8321040" y="3017520"/>
            <a:ext cx="2834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C9D6F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URLを1秒で送って、届いた結果を見てみてください。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731520" y="4526280"/>
            <a:ext cx="10698480" cy="13716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005840" y="466344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557D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お問い合わせ・無料お試しのお申し込み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1005840" y="5074920"/>
            <a:ext cx="6400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TEL 080-2420-4900（年中無休・24時間受付）</a:t>
            </a:r>
            <a:endParaRPr lang="en-US" sz="2000" dirty="0"/>
          </a:p>
        </p:txBody>
      </p:sp>
      <p:sp>
        <p:nvSpPr>
          <p:cNvPr id="21" name="Text 19"/>
          <p:cNvSpPr txBox="1"/>
          <p:nvPr/>
        </p:nvSpPr>
        <p:spPr>
          <a:xfrm>
            <a:off x="1005840" y="5486400"/>
            <a:ext cx="6766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akitogroup.jp/posupos　／　info@akitogroup.jp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8138160" y="493776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合同会社AKITOグループ</a:t>
            </a:r>
            <a:endParaRPr lang="en-US" sz="1300" dirty="0"/>
          </a:p>
          <a:p>
            <a:pPr algn="r" indent="0" marL="0">
              <a:buNone/>
            </a:pPr>
            <a:r>
              <a:rPr lang="en-US" sz="13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東京都豊島区東池袋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OSPOS">
  <a:themeElements>
    <a:clrScheme name="POSPOS">
      <a:dk1>
        <a:srgbClr val="13234A"/>
      </a:dk1>
      <a:lt1>
        <a:srgbClr val="FFFFFF"/>
      </a:lt1>
      <a:dk2>
        <a:srgbClr val="0E1F4D"/>
      </a:dk2>
      <a:lt2>
        <a:srgbClr val="F2F6FD"/>
      </a:lt2>
      <a:accent1>
        <a:srgbClr val="1557D6"/>
      </a:accent1>
      <a:accent2>
        <a:srgbClr val="FFB547"/>
      </a:accent2>
      <a:accent3>
        <a:srgbClr val="E5484D"/>
      </a:accent3>
      <a:accent4>
        <a:srgbClr val="22A06B"/>
      </a:accent4>
      <a:accent5>
        <a:srgbClr val="288DFD"/>
      </a:accent5>
      <a:accent6>
        <a:srgbClr val="7A3FB0"/>
      </a:accent6>
      <a:hlink>
        <a:srgbClr val="1557D6"/>
      </a:hlink>
      <a:folHlink>
        <a:srgbClr val="7A3FB0"/>
      </a:folHlink>
    </a:clrScheme>
    <a:fontScheme name="POSPOS">
      <a:majorFont>
        <a:latin typeface="Yu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Yu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合同会社AKITOグループ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ポスポス ご提案資料</dc:title>
  <dc:subject>PptxGenJS Presentation</dc:subject>
  <dc:creator>合同会社AKITOグループ</dc:creator>
  <cp:lastModifiedBy>合同会社AKITOグループ</cp:lastModifiedBy>
  <cp:revision>1</cp:revision>
  <dcterms:created xsi:type="dcterms:W3CDTF">2026-10-25T08:49:34Z</dcterms:created>
  <dcterms:modified xsi:type="dcterms:W3CDTF">2026-10-25T08:49:34Z</dcterms:modified>
</cp:coreProperties>
</file>